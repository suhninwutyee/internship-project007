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8" r:id="rId2"/>
  </p:sldMasterIdLst>
  <p:notesMasterIdLst>
    <p:notesMasterId r:id="rId34"/>
  </p:notesMasterIdLst>
  <p:handoutMasterIdLst>
    <p:handoutMasterId r:id="rId35"/>
  </p:handoutMasterIdLst>
  <p:sldIdLst>
    <p:sldId id="256" r:id="rId3"/>
    <p:sldId id="279" r:id="rId4"/>
    <p:sldId id="257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2" r:id="rId13"/>
    <p:sldId id="291" r:id="rId14"/>
    <p:sldId id="294" r:id="rId15"/>
    <p:sldId id="295" r:id="rId16"/>
    <p:sldId id="296" r:id="rId17"/>
    <p:sldId id="297" r:id="rId18"/>
    <p:sldId id="262" r:id="rId19"/>
    <p:sldId id="281" r:id="rId20"/>
    <p:sldId id="280" r:id="rId21"/>
    <p:sldId id="263" r:id="rId22"/>
    <p:sldId id="264" r:id="rId23"/>
    <p:sldId id="265" r:id="rId24"/>
    <p:sldId id="266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83" r:id="rId3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314A211-5C2D-B980-3A4B-68D3632D4B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5D264B-6477-69D5-E631-23E54DE64E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651E18-580D-4F6A-B14E-8762E028DFC1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56720C-850C-7A1E-CBB7-81AC28B2C9C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7F940E-EDFE-4854-25B6-B5D4C4089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F97A9A-995E-4305-8164-FD3040BEF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94663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B66CA1-E93E-43C7-A5AA-BBB6DB7EDC39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077770-D9D3-47B0-A81C-C970C15EC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1890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077770-D9D3-47B0-A81C-C970C15ECAF7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0622C-89F0-A039-3786-B5E37017E65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29725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9;p2"/>
          <p:cNvSpPr/>
          <p:nvPr/>
        </p:nvSpPr>
        <p:spPr>
          <a:xfrm>
            <a:off x="7346160" y="130320"/>
            <a:ext cx="4888800" cy="48888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" name="Google Shape;10;p2"/>
          <p:cNvGrpSpPr/>
          <p:nvPr/>
        </p:nvGrpSpPr>
        <p:grpSpPr>
          <a:xfrm>
            <a:off x="727200" y="-48960"/>
            <a:ext cx="7703280" cy="5242680"/>
            <a:chOff x="727200" y="-48960"/>
            <a:chExt cx="7703280" cy="5242680"/>
          </a:xfrm>
        </p:grpSpPr>
        <p:sp>
          <p:nvSpPr>
            <p:cNvPr id="2" name="Google Shape;11;p2"/>
            <p:cNvSpPr/>
            <p:nvPr/>
          </p:nvSpPr>
          <p:spPr>
            <a:xfrm>
              <a:off x="727560" y="533520"/>
              <a:ext cx="77029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3" name="Google Shape;12;p2"/>
            <p:cNvCxnSpPr/>
            <p:nvPr/>
          </p:nvCxnSpPr>
          <p:spPr>
            <a:xfrm flipV="1">
              <a:off x="727200" y="-48960"/>
              <a:ext cx="360" cy="585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4" name="Google Shape;13;p2"/>
            <p:cNvCxnSpPr/>
            <p:nvPr/>
          </p:nvCxnSpPr>
          <p:spPr>
            <a:xfrm flipV="1">
              <a:off x="8430480" y="4608360"/>
              <a:ext cx="360" cy="58572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87200" y="1670040"/>
            <a:ext cx="5897160" cy="139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0;p11"/>
          <p:cNvSpPr/>
          <p:nvPr/>
        </p:nvSpPr>
        <p:spPr>
          <a:xfrm>
            <a:off x="-3422880" y="0"/>
            <a:ext cx="5143320" cy="514332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" name="Google Shape;81;p11"/>
          <p:cNvGrpSpPr/>
          <p:nvPr/>
        </p:nvGrpSpPr>
        <p:grpSpPr>
          <a:xfrm>
            <a:off x="727200" y="-382320"/>
            <a:ext cx="7703280" cy="5906880"/>
            <a:chOff x="727200" y="-382320"/>
            <a:chExt cx="7703280" cy="5906880"/>
          </a:xfrm>
        </p:grpSpPr>
        <p:sp>
          <p:nvSpPr>
            <p:cNvPr id="9" name="Google Shape;82;p11"/>
            <p:cNvSpPr/>
            <p:nvPr/>
          </p:nvSpPr>
          <p:spPr>
            <a:xfrm>
              <a:off x="727560" y="533520"/>
              <a:ext cx="77029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0" name="Google Shape;83;p11"/>
            <p:cNvCxnSpPr/>
            <p:nvPr/>
          </p:nvCxnSpPr>
          <p:spPr>
            <a:xfrm>
              <a:off x="727200" y="4608360"/>
              <a:ext cx="360" cy="9165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1" name="Google Shape;84;p11"/>
            <p:cNvCxnSpPr/>
            <p:nvPr/>
          </p:nvCxnSpPr>
          <p:spPr>
            <a:xfrm>
              <a:off x="8430480" y="-382320"/>
              <a:ext cx="360" cy="91620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603160" y="1856160"/>
            <a:ext cx="5827320" cy="1024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fr-FR" sz="49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89;p13"/>
          <p:cNvSpPr/>
          <p:nvPr/>
        </p:nvSpPr>
        <p:spPr>
          <a:xfrm>
            <a:off x="-94176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4" name="Google Shape;90;p13"/>
          <p:cNvGrpSpPr/>
          <p:nvPr/>
        </p:nvGrpSpPr>
        <p:grpSpPr>
          <a:xfrm>
            <a:off x="-18720" y="232560"/>
            <a:ext cx="9188640" cy="4684680"/>
            <a:chOff x="-18720" y="232560"/>
            <a:chExt cx="9188640" cy="4684680"/>
          </a:xfrm>
        </p:grpSpPr>
        <p:sp>
          <p:nvSpPr>
            <p:cNvPr id="15" name="Google Shape;91;p13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6" name="Google Shape;92;p13"/>
            <p:cNvCxnSpPr/>
            <p:nvPr/>
          </p:nvCxnSpPr>
          <p:spPr>
            <a:xfrm flipH="1">
              <a:off x="-18720" y="232560"/>
              <a:ext cx="2588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7" name="Google Shape;93;p13"/>
            <p:cNvCxnSpPr/>
            <p:nvPr/>
          </p:nvCxnSpPr>
          <p:spPr>
            <a:xfrm flipH="1">
              <a:off x="8911080" y="4917240"/>
              <a:ext cx="2592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6312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title"/>
          </p:nvPr>
        </p:nvSpPr>
        <p:spPr>
          <a:xfrm>
            <a:off x="919440" y="1319760"/>
            <a:ext cx="365400" cy="365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15000"/>
              </a:lnSpc>
              <a:buNone/>
            </a:pPr>
            <a:r>
              <a:rPr lang="fr-FR" sz="11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title"/>
          </p:nvPr>
        </p:nvSpPr>
        <p:spPr>
          <a:xfrm>
            <a:off x="3508920" y="2977560"/>
            <a:ext cx="365400" cy="365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15000"/>
              </a:lnSpc>
              <a:buNone/>
            </a:pPr>
            <a:r>
              <a:rPr lang="fr-FR" sz="11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title"/>
          </p:nvPr>
        </p:nvSpPr>
        <p:spPr>
          <a:xfrm>
            <a:off x="919440" y="2977560"/>
            <a:ext cx="365400" cy="365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15000"/>
              </a:lnSpc>
              <a:buNone/>
            </a:pPr>
            <a:r>
              <a:rPr lang="fr-FR" sz="11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title"/>
          </p:nvPr>
        </p:nvSpPr>
        <p:spPr>
          <a:xfrm>
            <a:off x="3528360" y="1319760"/>
            <a:ext cx="365400" cy="365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15000"/>
              </a:lnSpc>
              <a:buNone/>
            </a:pPr>
            <a:r>
              <a:rPr lang="fr-FR" sz="11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title"/>
          </p:nvPr>
        </p:nvSpPr>
        <p:spPr>
          <a:xfrm>
            <a:off x="6136920" y="2977560"/>
            <a:ext cx="365400" cy="365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15000"/>
              </a:lnSpc>
              <a:buNone/>
            </a:pPr>
            <a:r>
              <a:rPr lang="fr-FR" sz="11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7"/>
          <p:cNvSpPr>
            <a:spLocks noGrp="1"/>
          </p:cNvSpPr>
          <p:nvPr>
            <p:ph type="title"/>
          </p:nvPr>
        </p:nvSpPr>
        <p:spPr>
          <a:xfrm>
            <a:off x="6136920" y="1319760"/>
            <a:ext cx="365400" cy="365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15000"/>
              </a:lnSpc>
              <a:buNone/>
            </a:pPr>
            <a:r>
              <a:rPr lang="fr-FR" sz="11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114;p14"/>
          <p:cNvSpPr/>
          <p:nvPr/>
        </p:nvSpPr>
        <p:spPr>
          <a:xfrm>
            <a:off x="-2125440" y="3018600"/>
            <a:ext cx="4242960" cy="424296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6" name="Google Shape;115;p14"/>
          <p:cNvGrpSpPr/>
          <p:nvPr/>
        </p:nvGrpSpPr>
        <p:grpSpPr>
          <a:xfrm>
            <a:off x="727200" y="-29160"/>
            <a:ext cx="8550720" cy="4637520"/>
            <a:chOff x="727200" y="-29160"/>
            <a:chExt cx="8550720" cy="4637520"/>
          </a:xfrm>
        </p:grpSpPr>
        <p:sp>
          <p:nvSpPr>
            <p:cNvPr id="27" name="Google Shape;116;p14"/>
            <p:cNvSpPr/>
            <p:nvPr/>
          </p:nvSpPr>
          <p:spPr>
            <a:xfrm>
              <a:off x="727560" y="533520"/>
              <a:ext cx="77029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28" name="Google Shape;117;p14"/>
            <p:cNvCxnSpPr/>
            <p:nvPr/>
          </p:nvCxnSpPr>
          <p:spPr>
            <a:xfrm flipV="1">
              <a:off x="727200" y="-29160"/>
              <a:ext cx="360" cy="56304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29" name="Google Shape;118;p14"/>
            <p:cNvCxnSpPr/>
            <p:nvPr/>
          </p:nvCxnSpPr>
          <p:spPr>
            <a:xfrm>
              <a:off x="8430480" y="4608360"/>
              <a:ext cx="8478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212200" y="2464560"/>
            <a:ext cx="5913720" cy="53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122;p15"/>
          <p:cNvSpPr/>
          <p:nvPr/>
        </p:nvSpPr>
        <p:spPr>
          <a:xfrm>
            <a:off x="355284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2" name="Google Shape;123;p15"/>
          <p:cNvGrpSpPr/>
          <p:nvPr/>
        </p:nvGrpSpPr>
        <p:grpSpPr>
          <a:xfrm>
            <a:off x="-50400" y="232560"/>
            <a:ext cx="8961120" cy="4684680"/>
            <a:chOff x="-50400" y="232560"/>
            <a:chExt cx="8961120" cy="4684680"/>
          </a:xfrm>
        </p:grpSpPr>
        <p:sp>
          <p:nvSpPr>
            <p:cNvPr id="33" name="Google Shape;124;p15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34" name="Google Shape;125;p15"/>
            <p:cNvCxnSpPr/>
            <p:nvPr/>
          </p:nvCxnSpPr>
          <p:spPr>
            <a:xfrm flipH="1">
              <a:off x="-50400" y="232560"/>
              <a:ext cx="3092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20000" y="1203840"/>
            <a:ext cx="3197880" cy="1501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493880" y="0"/>
            <a:ext cx="4649760" cy="5143320"/>
          </a:xfrm>
          <a:prstGeom prst="rect">
            <a:avLst/>
          </a:prstGeom>
          <a:noFill/>
          <a:ln w="1908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130;p16"/>
          <p:cNvSpPr/>
          <p:nvPr/>
        </p:nvSpPr>
        <p:spPr>
          <a:xfrm>
            <a:off x="-923040" y="-94536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8" name="Google Shape;131;p16"/>
          <p:cNvGrpSpPr/>
          <p:nvPr/>
        </p:nvGrpSpPr>
        <p:grpSpPr>
          <a:xfrm>
            <a:off x="-18720" y="232560"/>
            <a:ext cx="9175680" cy="4684680"/>
            <a:chOff x="-18720" y="232560"/>
            <a:chExt cx="9175680" cy="4684680"/>
          </a:xfrm>
        </p:grpSpPr>
        <p:sp>
          <p:nvSpPr>
            <p:cNvPr id="39" name="Google Shape;132;p16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40" name="Google Shape;133;p16"/>
            <p:cNvCxnSpPr/>
            <p:nvPr/>
          </p:nvCxnSpPr>
          <p:spPr>
            <a:xfrm flipH="1">
              <a:off x="-18720" y="232560"/>
              <a:ext cx="2588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41" name="Google Shape;134;p16"/>
            <p:cNvCxnSpPr/>
            <p:nvPr/>
          </p:nvCxnSpPr>
          <p:spPr>
            <a:xfrm>
              <a:off x="8917200" y="4917240"/>
              <a:ext cx="24012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78760" y="1533240"/>
            <a:ext cx="3024720" cy="641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138;p17"/>
          <p:cNvSpPr/>
          <p:nvPr/>
        </p:nvSpPr>
        <p:spPr>
          <a:xfrm>
            <a:off x="824076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4" name="Google Shape;139;p17"/>
          <p:cNvGrpSpPr/>
          <p:nvPr/>
        </p:nvGrpSpPr>
        <p:grpSpPr>
          <a:xfrm>
            <a:off x="232200" y="232560"/>
            <a:ext cx="8937720" cy="4933080"/>
            <a:chOff x="232200" y="232560"/>
            <a:chExt cx="8937720" cy="4933080"/>
          </a:xfrm>
        </p:grpSpPr>
        <p:sp>
          <p:nvSpPr>
            <p:cNvPr id="45" name="Google Shape;140;p17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46" name="Google Shape;141;p17"/>
            <p:cNvCxnSpPr/>
            <p:nvPr/>
          </p:nvCxnSpPr>
          <p:spPr>
            <a:xfrm flipH="1">
              <a:off x="8911080" y="232560"/>
              <a:ext cx="2592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47" name="Google Shape;142;p17"/>
            <p:cNvCxnSpPr/>
            <p:nvPr/>
          </p:nvCxnSpPr>
          <p:spPr>
            <a:xfrm>
              <a:off x="233280" y="4912920"/>
              <a:ext cx="360" cy="25308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22520" y="444960"/>
            <a:ext cx="7708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146;p18"/>
          <p:cNvSpPr/>
          <p:nvPr/>
        </p:nvSpPr>
        <p:spPr>
          <a:xfrm>
            <a:off x="7069320" y="3282840"/>
            <a:ext cx="3701520" cy="370152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0" name="Google Shape;147;p18"/>
          <p:cNvGrpSpPr/>
          <p:nvPr/>
        </p:nvGrpSpPr>
        <p:grpSpPr>
          <a:xfrm>
            <a:off x="-18720" y="232560"/>
            <a:ext cx="8929800" cy="5117400"/>
            <a:chOff x="-18720" y="232560"/>
            <a:chExt cx="8929800" cy="5117400"/>
          </a:xfrm>
        </p:grpSpPr>
        <p:sp>
          <p:nvSpPr>
            <p:cNvPr id="51" name="Google Shape;148;p18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52" name="Google Shape;149;p18"/>
            <p:cNvCxnSpPr/>
            <p:nvPr/>
          </p:nvCxnSpPr>
          <p:spPr>
            <a:xfrm flipH="1">
              <a:off x="-18720" y="232560"/>
              <a:ext cx="2588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53" name="Google Shape;150;p18"/>
            <p:cNvCxnSpPr/>
            <p:nvPr/>
          </p:nvCxnSpPr>
          <p:spPr>
            <a:xfrm flipV="1">
              <a:off x="8911080" y="4916880"/>
              <a:ext cx="360" cy="43344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22160" y="444960"/>
            <a:ext cx="7708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154;p19"/>
          <p:cNvSpPr/>
          <p:nvPr/>
        </p:nvSpPr>
        <p:spPr>
          <a:xfrm>
            <a:off x="824076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6" name="Google Shape;155;p19"/>
          <p:cNvGrpSpPr/>
          <p:nvPr/>
        </p:nvGrpSpPr>
        <p:grpSpPr>
          <a:xfrm>
            <a:off x="232200" y="232560"/>
            <a:ext cx="8988120" cy="5000040"/>
            <a:chOff x="232200" y="232560"/>
            <a:chExt cx="8988120" cy="5000040"/>
          </a:xfrm>
        </p:grpSpPr>
        <p:sp>
          <p:nvSpPr>
            <p:cNvPr id="57" name="Google Shape;156;p19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58" name="Google Shape;157;p19"/>
            <p:cNvCxnSpPr/>
            <p:nvPr/>
          </p:nvCxnSpPr>
          <p:spPr>
            <a:xfrm flipH="1">
              <a:off x="8911080" y="232560"/>
              <a:ext cx="3096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59" name="Google Shape;158;p19"/>
            <p:cNvCxnSpPr/>
            <p:nvPr/>
          </p:nvCxnSpPr>
          <p:spPr>
            <a:xfrm>
              <a:off x="233280" y="4917240"/>
              <a:ext cx="360" cy="31572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167;p20"/>
          <p:cNvSpPr/>
          <p:nvPr/>
        </p:nvSpPr>
        <p:spPr>
          <a:xfrm>
            <a:off x="8142120" y="-88668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2" name="Google Shape;168;p20"/>
          <p:cNvGrpSpPr/>
          <p:nvPr/>
        </p:nvGrpSpPr>
        <p:grpSpPr>
          <a:xfrm>
            <a:off x="-720" y="1466640"/>
            <a:ext cx="939600" cy="2327040"/>
            <a:chOff x="-720" y="1466640"/>
            <a:chExt cx="939600" cy="2327040"/>
          </a:xfrm>
        </p:grpSpPr>
        <p:cxnSp>
          <p:nvCxnSpPr>
            <p:cNvPr id="63" name="Google Shape;169;p20"/>
            <p:cNvCxnSpPr/>
            <p:nvPr/>
          </p:nvCxnSpPr>
          <p:spPr>
            <a:xfrm>
              <a:off x="-720" y="1466640"/>
              <a:ext cx="93996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64" name="Google Shape;170;p20"/>
            <p:cNvCxnSpPr/>
            <p:nvPr/>
          </p:nvCxnSpPr>
          <p:spPr>
            <a:xfrm>
              <a:off x="-720" y="2668320"/>
              <a:ext cx="93996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65" name="Google Shape;171;p20"/>
            <p:cNvCxnSpPr/>
            <p:nvPr/>
          </p:nvCxnSpPr>
          <p:spPr>
            <a:xfrm>
              <a:off x="-720" y="3793680"/>
              <a:ext cx="93996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grpSp>
        <p:nvGrpSpPr>
          <p:cNvPr id="66" name="Google Shape;172;p20"/>
          <p:cNvGrpSpPr/>
          <p:nvPr/>
        </p:nvGrpSpPr>
        <p:grpSpPr>
          <a:xfrm>
            <a:off x="232200" y="232560"/>
            <a:ext cx="8988120" cy="5000040"/>
            <a:chOff x="232200" y="232560"/>
            <a:chExt cx="8988120" cy="5000040"/>
          </a:xfrm>
        </p:grpSpPr>
        <p:sp>
          <p:nvSpPr>
            <p:cNvPr id="67" name="Google Shape;173;p20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68" name="Google Shape;174;p20"/>
            <p:cNvCxnSpPr/>
            <p:nvPr/>
          </p:nvCxnSpPr>
          <p:spPr>
            <a:xfrm flipH="1">
              <a:off x="8911080" y="232560"/>
              <a:ext cx="3096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69" name="Google Shape;175;p20"/>
            <p:cNvCxnSpPr/>
            <p:nvPr/>
          </p:nvCxnSpPr>
          <p:spPr>
            <a:xfrm>
              <a:off x="233280" y="4917240"/>
              <a:ext cx="360" cy="31572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17;p3"/>
          <p:cNvSpPr/>
          <p:nvPr/>
        </p:nvSpPr>
        <p:spPr>
          <a:xfrm>
            <a:off x="6433560" y="0"/>
            <a:ext cx="5143320" cy="514332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72" name="Google Shape;18;p3"/>
          <p:cNvGrpSpPr/>
          <p:nvPr/>
        </p:nvGrpSpPr>
        <p:grpSpPr>
          <a:xfrm>
            <a:off x="713160" y="-62280"/>
            <a:ext cx="7717320" cy="5209560"/>
            <a:chOff x="713160" y="-62280"/>
            <a:chExt cx="7717320" cy="5209560"/>
          </a:xfrm>
        </p:grpSpPr>
        <p:sp>
          <p:nvSpPr>
            <p:cNvPr id="73" name="Google Shape;19;p3"/>
            <p:cNvSpPr/>
            <p:nvPr/>
          </p:nvSpPr>
          <p:spPr>
            <a:xfrm>
              <a:off x="713160" y="533520"/>
              <a:ext cx="77173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74" name="Google Shape;20;p3"/>
            <p:cNvCxnSpPr/>
            <p:nvPr/>
          </p:nvCxnSpPr>
          <p:spPr>
            <a:xfrm flipV="1">
              <a:off x="713160" y="-62280"/>
              <a:ext cx="360" cy="5961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75" name="Google Shape;21;p3"/>
            <p:cNvCxnSpPr/>
            <p:nvPr/>
          </p:nvCxnSpPr>
          <p:spPr>
            <a:xfrm>
              <a:off x="8430480" y="4608360"/>
              <a:ext cx="360" cy="53928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216440" y="1977120"/>
            <a:ext cx="506736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title"/>
          </p:nvPr>
        </p:nvSpPr>
        <p:spPr>
          <a:xfrm>
            <a:off x="720000" y="533520"/>
            <a:ext cx="824040" cy="7045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3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184;p21"/>
          <p:cNvSpPr/>
          <p:nvPr/>
        </p:nvSpPr>
        <p:spPr>
          <a:xfrm>
            <a:off x="8240760" y="-9266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0" name="Google Shape;185;p21"/>
          <p:cNvGrpSpPr/>
          <p:nvPr/>
        </p:nvGrpSpPr>
        <p:grpSpPr>
          <a:xfrm>
            <a:off x="232200" y="-59760"/>
            <a:ext cx="9070200" cy="4977000"/>
            <a:chOff x="232200" y="-59760"/>
            <a:chExt cx="9070200" cy="4977000"/>
          </a:xfrm>
        </p:grpSpPr>
        <p:sp>
          <p:nvSpPr>
            <p:cNvPr id="81" name="Google Shape;186;p21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82" name="Google Shape;187;p21"/>
            <p:cNvCxnSpPr/>
            <p:nvPr/>
          </p:nvCxnSpPr>
          <p:spPr>
            <a:xfrm flipV="1">
              <a:off x="232200" y="-59760"/>
              <a:ext cx="360" cy="29664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83" name="Google Shape;188;p21"/>
            <p:cNvCxnSpPr/>
            <p:nvPr/>
          </p:nvCxnSpPr>
          <p:spPr>
            <a:xfrm>
              <a:off x="8904600" y="4917240"/>
              <a:ext cx="39816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197;p22"/>
          <p:cNvSpPr/>
          <p:nvPr/>
        </p:nvSpPr>
        <p:spPr>
          <a:xfrm>
            <a:off x="8142120" y="-88668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6" name="Google Shape;198;p22"/>
          <p:cNvGrpSpPr/>
          <p:nvPr/>
        </p:nvGrpSpPr>
        <p:grpSpPr>
          <a:xfrm>
            <a:off x="-18720" y="232560"/>
            <a:ext cx="9188640" cy="4684680"/>
            <a:chOff x="-18720" y="232560"/>
            <a:chExt cx="9188640" cy="4684680"/>
          </a:xfrm>
        </p:grpSpPr>
        <p:sp>
          <p:nvSpPr>
            <p:cNvPr id="87" name="Google Shape;199;p22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88" name="Google Shape;200;p22"/>
            <p:cNvCxnSpPr/>
            <p:nvPr/>
          </p:nvCxnSpPr>
          <p:spPr>
            <a:xfrm flipH="1">
              <a:off x="-18720" y="232560"/>
              <a:ext cx="2588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89" name="Google Shape;201;p22"/>
            <p:cNvCxnSpPr/>
            <p:nvPr/>
          </p:nvCxnSpPr>
          <p:spPr>
            <a:xfrm flipH="1">
              <a:off x="8911080" y="4917240"/>
              <a:ext cx="2592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212;p23"/>
          <p:cNvSpPr/>
          <p:nvPr/>
        </p:nvSpPr>
        <p:spPr>
          <a:xfrm>
            <a:off x="8142120" y="-88668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92" name="Google Shape;213;p23"/>
          <p:cNvGrpSpPr/>
          <p:nvPr/>
        </p:nvGrpSpPr>
        <p:grpSpPr>
          <a:xfrm>
            <a:off x="232200" y="232560"/>
            <a:ext cx="8988120" cy="5000040"/>
            <a:chOff x="232200" y="232560"/>
            <a:chExt cx="8988120" cy="5000040"/>
          </a:xfrm>
        </p:grpSpPr>
        <p:sp>
          <p:nvSpPr>
            <p:cNvPr id="93" name="Google Shape;214;p23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94" name="Google Shape;215;p23"/>
            <p:cNvCxnSpPr/>
            <p:nvPr/>
          </p:nvCxnSpPr>
          <p:spPr>
            <a:xfrm flipH="1">
              <a:off x="8911080" y="232560"/>
              <a:ext cx="3096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95" name="Google Shape;216;p23"/>
            <p:cNvCxnSpPr/>
            <p:nvPr/>
          </p:nvCxnSpPr>
          <p:spPr>
            <a:xfrm>
              <a:off x="233280" y="4917240"/>
              <a:ext cx="360" cy="31572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244;p25"/>
          <p:cNvSpPr/>
          <p:nvPr/>
        </p:nvSpPr>
        <p:spPr>
          <a:xfrm>
            <a:off x="8240760" y="-9266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07" name="Google Shape;245;p25"/>
          <p:cNvGrpSpPr/>
          <p:nvPr/>
        </p:nvGrpSpPr>
        <p:grpSpPr>
          <a:xfrm>
            <a:off x="-18720" y="232560"/>
            <a:ext cx="9188640" cy="4684680"/>
            <a:chOff x="-18720" y="232560"/>
            <a:chExt cx="9188640" cy="4684680"/>
          </a:xfrm>
        </p:grpSpPr>
        <p:sp>
          <p:nvSpPr>
            <p:cNvPr id="108" name="Google Shape;246;p25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09" name="Google Shape;247;p25"/>
            <p:cNvCxnSpPr/>
            <p:nvPr/>
          </p:nvCxnSpPr>
          <p:spPr>
            <a:xfrm flipH="1">
              <a:off x="-18720" y="4917240"/>
              <a:ext cx="2588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10" name="Google Shape;248;p25"/>
            <p:cNvCxnSpPr/>
            <p:nvPr/>
          </p:nvCxnSpPr>
          <p:spPr>
            <a:xfrm flipH="1">
              <a:off x="8911080" y="232560"/>
              <a:ext cx="2592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722520" y="444960"/>
            <a:ext cx="7708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251;p26"/>
          <p:cNvSpPr/>
          <p:nvPr/>
        </p:nvSpPr>
        <p:spPr>
          <a:xfrm>
            <a:off x="-92448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3" name="Google Shape;252;p26"/>
          <p:cNvGrpSpPr/>
          <p:nvPr/>
        </p:nvGrpSpPr>
        <p:grpSpPr>
          <a:xfrm>
            <a:off x="232200" y="232560"/>
            <a:ext cx="8988120" cy="4964400"/>
            <a:chOff x="232200" y="232560"/>
            <a:chExt cx="8988120" cy="4964400"/>
          </a:xfrm>
        </p:grpSpPr>
        <p:sp>
          <p:nvSpPr>
            <p:cNvPr id="114" name="Google Shape;253;p26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15" name="Google Shape;254;p26"/>
            <p:cNvCxnSpPr/>
            <p:nvPr/>
          </p:nvCxnSpPr>
          <p:spPr>
            <a:xfrm flipH="1">
              <a:off x="8911080" y="232560"/>
              <a:ext cx="3096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16" name="Google Shape;255;p26"/>
            <p:cNvCxnSpPr/>
            <p:nvPr/>
          </p:nvCxnSpPr>
          <p:spPr>
            <a:xfrm flipV="1">
              <a:off x="232200" y="4890240"/>
              <a:ext cx="360" cy="30708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722520" y="444960"/>
            <a:ext cx="7708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258;p27"/>
          <p:cNvSpPr/>
          <p:nvPr/>
        </p:nvSpPr>
        <p:spPr>
          <a:xfrm>
            <a:off x="6677280" y="-9000"/>
            <a:ext cx="5161320" cy="516132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9" name="Google Shape;259;p27"/>
          <p:cNvGrpSpPr/>
          <p:nvPr/>
        </p:nvGrpSpPr>
        <p:grpSpPr>
          <a:xfrm>
            <a:off x="713160" y="-78840"/>
            <a:ext cx="8790840" cy="4687200"/>
            <a:chOff x="713160" y="-78840"/>
            <a:chExt cx="8790840" cy="4687200"/>
          </a:xfrm>
        </p:grpSpPr>
        <p:sp>
          <p:nvSpPr>
            <p:cNvPr id="120" name="Google Shape;260;p27"/>
            <p:cNvSpPr/>
            <p:nvPr/>
          </p:nvSpPr>
          <p:spPr>
            <a:xfrm>
              <a:off x="713160" y="533520"/>
              <a:ext cx="78631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21" name="Google Shape;261;p27"/>
            <p:cNvCxnSpPr/>
            <p:nvPr/>
          </p:nvCxnSpPr>
          <p:spPr>
            <a:xfrm flipV="1">
              <a:off x="713160" y="-78840"/>
              <a:ext cx="360" cy="6249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22" name="Google Shape;262;p27"/>
            <p:cNvCxnSpPr/>
            <p:nvPr/>
          </p:nvCxnSpPr>
          <p:spPr>
            <a:xfrm>
              <a:off x="8571600" y="4608360"/>
              <a:ext cx="93276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094400" y="77832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4" name="Google Shape;265;p27"/>
          <p:cNvSpPr/>
          <p:nvPr/>
        </p:nvSpPr>
        <p:spPr>
          <a:xfrm>
            <a:off x="1094400" y="3384000"/>
            <a:ext cx="57967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15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  <a:hlinkClick r:id="rId2"/>
              </a:rPr>
              <a:t>Slidesgo</a:t>
            </a: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,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  <a:hlinkClick r:id="rId3"/>
              </a:rPr>
              <a:t>Freepik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26;p4"/>
          <p:cNvSpPr/>
          <p:nvPr/>
        </p:nvSpPr>
        <p:spPr>
          <a:xfrm>
            <a:off x="824076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37" name="Google Shape;27;p4"/>
          <p:cNvGrpSpPr/>
          <p:nvPr/>
        </p:nvGrpSpPr>
        <p:grpSpPr>
          <a:xfrm>
            <a:off x="-18720" y="232560"/>
            <a:ext cx="8929800" cy="5027400"/>
            <a:chOff x="-18720" y="232560"/>
            <a:chExt cx="8929800" cy="5027400"/>
          </a:xfrm>
        </p:grpSpPr>
        <p:sp>
          <p:nvSpPr>
            <p:cNvPr id="138" name="Google Shape;28;p4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39" name="Google Shape;29;p4"/>
            <p:cNvCxnSpPr/>
            <p:nvPr/>
          </p:nvCxnSpPr>
          <p:spPr>
            <a:xfrm flipH="1">
              <a:off x="-18720" y="232560"/>
              <a:ext cx="2588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40" name="Google Shape;30;p4"/>
            <p:cNvCxnSpPr/>
            <p:nvPr/>
          </p:nvCxnSpPr>
          <p:spPr>
            <a:xfrm>
              <a:off x="8911080" y="4917240"/>
              <a:ext cx="360" cy="34308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232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34;p5"/>
          <p:cNvSpPr/>
          <p:nvPr/>
        </p:nvSpPr>
        <p:spPr>
          <a:xfrm>
            <a:off x="824076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44" name="Google Shape;35;p5"/>
          <p:cNvGrpSpPr/>
          <p:nvPr/>
        </p:nvGrpSpPr>
        <p:grpSpPr>
          <a:xfrm>
            <a:off x="-77040" y="232560"/>
            <a:ext cx="8988120" cy="4964400"/>
            <a:chOff x="-77040" y="232560"/>
            <a:chExt cx="8988120" cy="4964400"/>
          </a:xfrm>
        </p:grpSpPr>
        <p:sp>
          <p:nvSpPr>
            <p:cNvPr id="145" name="Google Shape;36;p5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46" name="Google Shape;37;p5"/>
            <p:cNvCxnSpPr/>
            <p:nvPr/>
          </p:nvCxnSpPr>
          <p:spPr>
            <a:xfrm flipH="1">
              <a:off x="-77040" y="232560"/>
              <a:ext cx="3096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47" name="Google Shape;38;p5"/>
            <p:cNvCxnSpPr/>
            <p:nvPr/>
          </p:nvCxnSpPr>
          <p:spPr>
            <a:xfrm flipV="1">
              <a:off x="8911080" y="4890240"/>
              <a:ext cx="360" cy="30708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54;p7"/>
          <p:cNvSpPr/>
          <p:nvPr/>
        </p:nvSpPr>
        <p:spPr>
          <a:xfrm>
            <a:off x="824076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58" name="Google Shape;55;p7"/>
          <p:cNvGrpSpPr/>
          <p:nvPr/>
        </p:nvGrpSpPr>
        <p:grpSpPr>
          <a:xfrm>
            <a:off x="-18720" y="-15840"/>
            <a:ext cx="8929800" cy="4933080"/>
            <a:chOff x="-18720" y="-15840"/>
            <a:chExt cx="8929800" cy="4933080"/>
          </a:xfrm>
        </p:grpSpPr>
        <p:sp>
          <p:nvSpPr>
            <p:cNvPr id="159" name="Google Shape;56;p7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60" name="Google Shape;57;p7"/>
            <p:cNvCxnSpPr/>
            <p:nvPr/>
          </p:nvCxnSpPr>
          <p:spPr>
            <a:xfrm flipH="1">
              <a:off x="-18720" y="4917240"/>
              <a:ext cx="2588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61" name="Google Shape;58;p7"/>
            <p:cNvCxnSpPr/>
            <p:nvPr/>
          </p:nvCxnSpPr>
          <p:spPr>
            <a:xfrm flipV="1">
              <a:off x="8911080" y="-15840"/>
              <a:ext cx="360" cy="25884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720000" y="4482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62;p8"/>
          <p:cNvSpPr/>
          <p:nvPr/>
        </p:nvSpPr>
        <p:spPr>
          <a:xfrm>
            <a:off x="2007360" y="2777040"/>
            <a:ext cx="5143320" cy="514332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64" name="Google Shape;63;p8"/>
          <p:cNvGrpSpPr/>
          <p:nvPr/>
        </p:nvGrpSpPr>
        <p:grpSpPr>
          <a:xfrm>
            <a:off x="0" y="533520"/>
            <a:ext cx="9270720" cy="4074840"/>
            <a:chOff x="0" y="533520"/>
            <a:chExt cx="9270720" cy="4074840"/>
          </a:xfrm>
        </p:grpSpPr>
        <p:sp>
          <p:nvSpPr>
            <p:cNvPr id="165" name="Google Shape;64;p8"/>
            <p:cNvSpPr/>
            <p:nvPr/>
          </p:nvSpPr>
          <p:spPr>
            <a:xfrm>
              <a:off x="727560" y="533520"/>
              <a:ext cx="77029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66" name="Google Shape;65;p8"/>
            <p:cNvCxnSpPr/>
            <p:nvPr/>
          </p:nvCxnSpPr>
          <p:spPr>
            <a:xfrm flipH="1">
              <a:off x="8430840" y="533520"/>
              <a:ext cx="8402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67" name="Google Shape;66;p8"/>
            <p:cNvCxnSpPr/>
            <p:nvPr/>
          </p:nvCxnSpPr>
          <p:spPr>
            <a:xfrm flipH="1">
              <a:off x="0" y="4608360"/>
              <a:ext cx="74088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1644480" y="1733400"/>
            <a:ext cx="5854680" cy="76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69;p9"/>
          <p:cNvSpPr/>
          <p:nvPr/>
        </p:nvSpPr>
        <p:spPr>
          <a:xfrm>
            <a:off x="-2613600" y="-126000"/>
            <a:ext cx="5401800" cy="54018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70" name="Google Shape;70;p9"/>
          <p:cNvGrpSpPr/>
          <p:nvPr/>
        </p:nvGrpSpPr>
        <p:grpSpPr>
          <a:xfrm>
            <a:off x="727200" y="-48960"/>
            <a:ext cx="7703280" cy="5242680"/>
            <a:chOff x="727200" y="-48960"/>
            <a:chExt cx="7703280" cy="5242680"/>
          </a:xfrm>
        </p:grpSpPr>
        <p:sp>
          <p:nvSpPr>
            <p:cNvPr id="171" name="Google Shape;71;p9"/>
            <p:cNvSpPr/>
            <p:nvPr/>
          </p:nvSpPr>
          <p:spPr>
            <a:xfrm>
              <a:off x="727560" y="533520"/>
              <a:ext cx="77029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72" name="Google Shape;72;p9"/>
            <p:cNvCxnSpPr/>
            <p:nvPr/>
          </p:nvCxnSpPr>
          <p:spPr>
            <a:xfrm flipV="1">
              <a:off x="727200" y="-48960"/>
              <a:ext cx="360" cy="585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73" name="Google Shape;73;p9"/>
            <p:cNvCxnSpPr/>
            <p:nvPr/>
          </p:nvCxnSpPr>
          <p:spPr>
            <a:xfrm flipV="1">
              <a:off x="8430480" y="4608360"/>
              <a:ext cx="360" cy="58572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3496680" y="1021680"/>
            <a:ext cx="4294440" cy="2094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716760" y="51120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400FE0-FB12-6CC7-7310-D2EA0B1FEF1F}"/>
              </a:ext>
            </a:extLst>
          </p:cNvPr>
          <p:cNvSpPr txBox="1"/>
          <p:nvPr/>
        </p:nvSpPr>
        <p:spPr>
          <a:xfrm>
            <a:off x="2244090" y="728557"/>
            <a:ext cx="7334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UNIVERSITY OF COMPUTER STUDIES, (MANDALAY</a:t>
            </a:r>
            <a:r>
              <a:rPr lang="en-US" b="1" baseline="30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5C240C-26A8-7242-D828-096837CACD4B}"/>
              </a:ext>
            </a:extLst>
          </p:cNvPr>
          <p:cNvSpPr txBox="1"/>
          <p:nvPr/>
        </p:nvSpPr>
        <p:spPr>
          <a:xfrm flipH="1">
            <a:off x="2838449" y="1190222"/>
            <a:ext cx="5341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Training and Project Presentation 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“Accomplished in D.I.S Technology Co,. Ltd ”</a:t>
            </a:r>
          </a:p>
        </p:txBody>
      </p:sp>
      <p:pic>
        <p:nvPicPr>
          <p:cNvPr id="7" name="Picture 58">
            <a:extLst>
              <a:ext uri="{FF2B5EF4-FFF2-40B4-BE49-F238E27FC236}">
                <a16:creationId xmlns:a16="http://schemas.microsoft.com/office/drawing/2014/main" id="{FF5E634C-00D8-ECAC-8DDD-D57165A0D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" y="594359"/>
            <a:ext cx="1584959" cy="1493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3A5ED5-3600-4C1E-F36E-E474A931501F}"/>
              </a:ext>
            </a:extLst>
          </p:cNvPr>
          <p:cNvSpPr txBox="1"/>
          <p:nvPr/>
        </p:nvSpPr>
        <p:spPr>
          <a:xfrm>
            <a:off x="986790" y="3055621"/>
            <a:ext cx="25146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Daw Ohnmar Aung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409335-7054-24E9-04FA-8C5D4E7A058A}"/>
              </a:ext>
            </a:extLst>
          </p:cNvPr>
          <p:cNvSpPr txBox="1"/>
          <p:nvPr/>
        </p:nvSpPr>
        <p:spPr>
          <a:xfrm>
            <a:off x="4792980" y="3055621"/>
            <a:ext cx="324612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Hlaing	KPTM-10896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Yee Mon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Hlwar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KPTM-10897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 Hnin Wut Yee	KPTM-10900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4147B3-9280-2219-9DE0-4749ED8885DF}"/>
              </a:ext>
            </a:extLst>
          </p:cNvPr>
          <p:cNvSpPr txBox="1"/>
          <p:nvPr/>
        </p:nvSpPr>
        <p:spPr>
          <a:xfrm>
            <a:off x="5854066" y="1928886"/>
            <a:ext cx="2326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Date:12.8.2025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B19E9-8243-C635-A686-DBF813709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>
            <a:extLst>
              <a:ext uri="{FF2B5EF4-FFF2-40B4-BE49-F238E27FC236}">
                <a16:creationId xmlns:a16="http://schemas.microsoft.com/office/drawing/2014/main" id="{C5E93BED-BCF9-1A7E-D9CB-E48F821C0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330" y="550636"/>
            <a:ext cx="50670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 OF PRESENTATION</a:t>
            </a:r>
            <a:endParaRPr lang="fr-FR" sz="20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tar: 5 Points 1">
            <a:extLst>
              <a:ext uri="{FF2B5EF4-FFF2-40B4-BE49-F238E27FC236}">
                <a16:creationId xmlns:a16="http://schemas.microsoft.com/office/drawing/2014/main" id="{75BD4970-A7D9-E488-868A-EAC12F14787F}"/>
              </a:ext>
            </a:extLst>
          </p:cNvPr>
          <p:cNvSpPr/>
          <p:nvPr/>
        </p:nvSpPr>
        <p:spPr>
          <a:xfrm>
            <a:off x="698930" y="550636"/>
            <a:ext cx="914400" cy="914400"/>
          </a:xfrm>
          <a:prstGeom prst="star5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22FEA71-4AD5-198A-F8C5-D89CE7773228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1672803" y="1549939"/>
            <a:ext cx="6081012" cy="3228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TRANING PROGRAM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BRIEF HISTORY OF D.I.S TECHNOLOGY Ct., Ltd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SWOT ANALYSIS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LINE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293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959004" y="485011"/>
            <a:ext cx="7547491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 INTRODUCTION</a:t>
            </a:r>
            <a:endParaRPr lang="fr-FR" sz="20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801055" y="957510"/>
            <a:ext cx="7705440" cy="3228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28670" indent="-2857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This presentation covers the four main workflows of the Internship Project Information System. 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70" indent="-2857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It highlights the process flow for project management, public user access, final year student participation, and teacher administration. </a:t>
            </a: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70" indent="-2857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Each workflow is explained clearly with key points for seamless understanding and implementation.</a:t>
            </a:r>
          </a:p>
          <a:p>
            <a:pPr marL="428670" indent="-2857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web-based platform designed to manage internship and final year project processes.</a:t>
            </a:r>
          </a:p>
          <a:p>
            <a:pPr marL="428670" indent="-2857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Facilitates collaboration between students, teachers, and internship companies.</a:t>
            </a:r>
          </a:p>
          <a:p>
            <a:pPr marL="428670" indent="-2857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Centralizes project proposals, approvals, submissions, and internship placements.</a:t>
            </a:r>
          </a:p>
          <a:p>
            <a:pPr marL="428670" indent="-2857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user roles with tailored access for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Visitors</a:t>
            </a:r>
          </a:p>
          <a:p>
            <a:pPr marL="428670" indent="-2857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70" indent="-2857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70" indent="-2857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70" indent="-2857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endParaRPr lang="fr-FR" sz="14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ea typeface="Hanken Grotesk"/>
              <a:cs typeface="Times New Roman" panose="02020603050405020304" pitchFamily="18" charset="0"/>
            </a:endParaRPr>
          </a:p>
          <a:p>
            <a:pPr marL="428670" indent="-2857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D73CE-D5A0-969F-AC0F-DD9B72A04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271F3C-A5A7-3C4A-454F-FC98E73B86A4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965893" y="993721"/>
            <a:ext cx="7090076" cy="3156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how to design and develop a database to store internship and project details securely.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practical skills in using ASP.NET Core MVC for building web-based management systems.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ideas by reviewing multiple existing internship and project management platforms.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teamwork and communication skills by collaborating with peers and industry partners during the project.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F0FE3E-3FAF-076B-53EF-F472FDBC6C5E}"/>
              </a:ext>
            </a:extLst>
          </p:cNvPr>
          <p:cNvSpPr txBox="1"/>
          <p:nvPr/>
        </p:nvSpPr>
        <p:spPr>
          <a:xfrm>
            <a:off x="965893" y="505335"/>
            <a:ext cx="3836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PROGRAM</a:t>
            </a:r>
          </a:p>
        </p:txBody>
      </p:sp>
    </p:spTree>
    <p:extLst>
      <p:ext uri="{BB962C8B-B14F-4D97-AF65-F5344CB8AC3E}">
        <p14:creationId xmlns:p14="http://schemas.microsoft.com/office/powerpoint/2010/main" val="3989925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1D070-0D88-82F3-C07F-BF4EB7354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C0DDAA-E1FF-C1C2-8E8C-A4120CE8CB4C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810324" y="1072761"/>
            <a:ext cx="7932780" cy="3608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D.I.S Technology Co., Ltd. was founded in 2009 as part of the PAG Group, driven by a vision to lead Myanmar’s digital transformation.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began with a small team and grew into one of the country’s top IT solution providers, serving both government and private sectors.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earning multiple government recognitions, D.I.S became known for major projects like e-Driving License Systems, IRD Documentation Systems, and Banking Applications.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Today, the company has a strong workforce of 100+ talented professionals across software development, project management, and technical support.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contact D.I.S Technology at No.131, Strand Road, Thanlyin Township, Yangon, Tel: [Insert Number], Email: [Insert Email].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B027CD-B3C1-650C-F517-0F9FB65D6B6C}"/>
              </a:ext>
            </a:extLst>
          </p:cNvPr>
          <p:cNvSpPr txBox="1"/>
          <p:nvPr/>
        </p:nvSpPr>
        <p:spPr>
          <a:xfrm>
            <a:off x="810324" y="520203"/>
            <a:ext cx="6616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HISTORY D.I.S TECHNOLOGY Ct., Ltd</a:t>
            </a:r>
          </a:p>
        </p:txBody>
      </p:sp>
    </p:spTree>
    <p:extLst>
      <p:ext uri="{BB962C8B-B14F-4D97-AF65-F5344CB8AC3E}">
        <p14:creationId xmlns:p14="http://schemas.microsoft.com/office/powerpoint/2010/main" val="4260875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7168E-BD27-3AA2-1CA4-86469B728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8F19AC-F22D-28B0-88EC-D4627AB142E8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965893" y="1013123"/>
            <a:ext cx="7090076" cy="2832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D.I.S Technology Co., Ltd. was founded in 2009 as part of the PAG Group, driven by a vision to lead Myanmar’s digital transformation.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latest technologies like C#, .NET Core MVC, React.js, and MSSQL.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Friendly and supportive work environment.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teamwork and open communication culture.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 to work on real projects and apply knowledge practically.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mentorship from senior developers.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7F22C7-13D4-3656-BDA7-6B3A79EE2146}"/>
              </a:ext>
            </a:extLst>
          </p:cNvPr>
          <p:cNvSpPr txBox="1"/>
          <p:nvPr/>
        </p:nvSpPr>
        <p:spPr>
          <a:xfrm>
            <a:off x="965893" y="505335"/>
            <a:ext cx="3836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</a:t>
            </a:r>
          </a:p>
        </p:txBody>
      </p:sp>
    </p:spTree>
    <p:extLst>
      <p:ext uri="{BB962C8B-B14F-4D97-AF65-F5344CB8AC3E}">
        <p14:creationId xmlns:p14="http://schemas.microsoft.com/office/powerpoint/2010/main" val="103443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FD7F2-FFD6-5A84-2251-CF5754288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7CD751-728C-7017-663E-EFE45D9A3621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965893" y="1005997"/>
            <a:ext cx="7090076" cy="26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Workload varies, causing some downtime.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involvement of interns in some projects.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processes and tools still developing and need improvement.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opportunities for interns to participate in client-facing meetings.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E4A068-C831-58A4-0293-09529F3AD383}"/>
              </a:ext>
            </a:extLst>
          </p:cNvPr>
          <p:cNvSpPr txBox="1"/>
          <p:nvPr/>
        </p:nvSpPr>
        <p:spPr>
          <a:xfrm>
            <a:off x="965893" y="538985"/>
            <a:ext cx="3836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</a:t>
            </a:r>
          </a:p>
        </p:txBody>
      </p:sp>
    </p:spTree>
    <p:extLst>
      <p:ext uri="{BB962C8B-B14F-4D97-AF65-F5344CB8AC3E}">
        <p14:creationId xmlns:p14="http://schemas.microsoft.com/office/powerpoint/2010/main" val="940396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42214-7A9F-4920-78ED-B3B28C0FF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90F226-12BB-8C1D-6E4E-8C668407645B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965893" y="994759"/>
            <a:ext cx="7090076" cy="3479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Chance to adopt and explore emerging tech like cloud computing or AI.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to expand into mobile app development.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local and international demand for custom software solutions.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mentorship from experienced developers.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internship programs to attract more talent.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57CA0E-C8A5-4DDC-54B8-340647995B08}"/>
              </a:ext>
            </a:extLst>
          </p:cNvPr>
          <p:cNvSpPr txBox="1"/>
          <p:nvPr/>
        </p:nvSpPr>
        <p:spPr>
          <a:xfrm>
            <a:off x="965893" y="505335"/>
            <a:ext cx="3836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</a:t>
            </a:r>
          </a:p>
        </p:txBody>
      </p:sp>
    </p:spTree>
    <p:extLst>
      <p:ext uri="{BB962C8B-B14F-4D97-AF65-F5344CB8AC3E}">
        <p14:creationId xmlns:p14="http://schemas.microsoft.com/office/powerpoint/2010/main" val="57411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08AC1-F283-4367-0F14-3E4F3ACD2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A38BE2-C9D3-F0E4-71C2-CCE9E4DB7ADB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965893" y="994624"/>
            <a:ext cx="7090076" cy="1992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instability might reduce project budgets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competition from bigger IT companies and outsourcing firms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limitations sometimes cause delays in project delivery timelines.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BE5A84-7275-07CD-1651-4C834E02E857}"/>
              </a:ext>
            </a:extLst>
          </p:cNvPr>
          <p:cNvSpPr txBox="1"/>
          <p:nvPr/>
        </p:nvSpPr>
        <p:spPr>
          <a:xfrm>
            <a:off x="965893" y="505335"/>
            <a:ext cx="3836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THREATS</a:t>
            </a:r>
          </a:p>
        </p:txBody>
      </p:sp>
    </p:spTree>
    <p:extLst>
      <p:ext uri="{BB962C8B-B14F-4D97-AF65-F5344CB8AC3E}">
        <p14:creationId xmlns:p14="http://schemas.microsoft.com/office/powerpoint/2010/main" val="1257422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0983B-5C37-EB96-3C4F-B823EE9CC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201B7E-E76E-8BB6-68BE-1FE3D97D10A8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965893" y="905445"/>
            <a:ext cx="7090076" cy="29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manages internship projects, student profiles, and company details in one platform.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role-based access for students and supervisors.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features for project submission, progress tracking, and report generation.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notification tools to remind users of important deadlines and tasks.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A98946-BC2F-30FE-E072-44720D604319}"/>
              </a:ext>
            </a:extLst>
          </p:cNvPr>
          <p:cNvSpPr txBox="1"/>
          <p:nvPr/>
        </p:nvSpPr>
        <p:spPr>
          <a:xfrm>
            <a:off x="965893" y="505335"/>
            <a:ext cx="3836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LINE</a:t>
            </a:r>
          </a:p>
        </p:txBody>
      </p:sp>
    </p:spTree>
    <p:extLst>
      <p:ext uri="{BB962C8B-B14F-4D97-AF65-F5344CB8AC3E}">
        <p14:creationId xmlns:p14="http://schemas.microsoft.com/office/powerpoint/2010/main" val="2990189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98122-A585-70F4-6F85-E0282CB87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1173C0-1F68-94DF-C0BB-A34B2779B497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965893" y="1038632"/>
            <a:ext cx="7873307" cy="29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 web-based Internship Project Information System to manage internship workflows efficiently.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stores all internship-related data securely and provides easy access to authorized users.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features dashboards, submission portals, progress monitoring, and report generation tools.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built using ASP.NET Core MVC with a responsive design for desktop and mobile use.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automating routine tasks, the system aims to improve administrative efficiency and user satisfaction.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9AEBC9-7F40-10D7-CE88-A82C452D0D24}"/>
              </a:ext>
            </a:extLst>
          </p:cNvPr>
          <p:cNvSpPr txBox="1"/>
          <p:nvPr/>
        </p:nvSpPr>
        <p:spPr>
          <a:xfrm>
            <a:off x="965893" y="505335"/>
            <a:ext cx="4461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ABSTRACTS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2677086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9BAA3-D579-FA3B-34C8-C6E09DBF0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78A7CB-DC8E-0959-4419-181A39299233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913854" y="1039667"/>
            <a:ext cx="7090076" cy="32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Aim: To simplify and automate the internship project management process.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Aim: To provide a centralized platform for students, companies, and supervisors to collaborate effectively.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Benefit: Reduces paperwork and manual tracking errors.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Benefit: Enhances communication and transparency among all parties involved.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Benefit: Saves time and improves the overall internship experience for students and staff.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512B0C-AA1C-DD99-1E80-FD0F4D3B404C}"/>
              </a:ext>
            </a:extLst>
          </p:cNvPr>
          <p:cNvSpPr txBox="1"/>
          <p:nvPr/>
        </p:nvSpPr>
        <p:spPr>
          <a:xfrm>
            <a:off x="965893" y="505335"/>
            <a:ext cx="3836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AND BENEFITS</a:t>
            </a:r>
          </a:p>
        </p:txBody>
      </p:sp>
    </p:spTree>
    <p:extLst>
      <p:ext uri="{BB962C8B-B14F-4D97-AF65-F5344CB8AC3E}">
        <p14:creationId xmlns:p14="http://schemas.microsoft.com/office/powerpoint/2010/main" val="1722224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D0202-64D7-6022-6BAE-25C0A25C8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2AA42E-AB84-B7E8-ED4E-449C21172345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965893" y="1050595"/>
            <a:ext cx="7090076" cy="26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ASP.NET Core MVC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SQL Server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Framework Core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jQuery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4DE728-C81D-9506-1360-D9E6D573CFD9}"/>
              </a:ext>
            </a:extLst>
          </p:cNvPr>
          <p:cNvSpPr txBox="1"/>
          <p:nvPr/>
        </p:nvSpPr>
        <p:spPr>
          <a:xfrm>
            <a:off x="965893" y="505335"/>
            <a:ext cx="3836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3521520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C053A-93F1-FA4F-B828-E49D880E1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3BD5D52-0FE0-B4F2-7A39-F3E49A20802D}"/>
              </a:ext>
            </a:extLst>
          </p:cNvPr>
          <p:cNvSpPr txBox="1"/>
          <p:nvPr/>
        </p:nvSpPr>
        <p:spPr>
          <a:xfrm>
            <a:off x="928721" y="305280"/>
            <a:ext cx="5925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 CHART FOR PUBLIC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C092EE-D853-394F-4CA6-63DDC8AE66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720" y="705390"/>
            <a:ext cx="5925561" cy="413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783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10E98-6E75-61E8-B074-4950F331E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B02ED2D-C127-FD36-95C5-C467FF5AF5CC}"/>
              </a:ext>
            </a:extLst>
          </p:cNvPr>
          <p:cNvSpPr txBox="1"/>
          <p:nvPr/>
        </p:nvSpPr>
        <p:spPr>
          <a:xfrm>
            <a:off x="928721" y="305280"/>
            <a:ext cx="5925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 CHART FOR STUDENT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E56ACB-14F2-F60B-BA51-94580DFBE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19" y="645917"/>
            <a:ext cx="4170557" cy="413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075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E429F-29C5-D60D-02A9-BF9F8512A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7B4885B-260E-4E0E-CBE2-D889C8445762}"/>
              </a:ext>
            </a:extLst>
          </p:cNvPr>
          <p:cNvSpPr txBox="1"/>
          <p:nvPr/>
        </p:nvSpPr>
        <p:spPr>
          <a:xfrm>
            <a:off x="928721" y="305280"/>
            <a:ext cx="5925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 CHART FOR TEACHER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FBCA1A-C70C-1B99-E85C-C57F790675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721" y="705390"/>
            <a:ext cx="5152652" cy="413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572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1635512" y="533520"/>
            <a:ext cx="5575490" cy="63068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PROJECT WORKFLOW</a:t>
            </a:r>
            <a:endParaRPr lang="fr-FR" sz="20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ubTitle"/>
          </p:nvPr>
        </p:nvSpPr>
        <p:spPr>
          <a:xfrm>
            <a:off x="1635512" y="1238040"/>
            <a:ext cx="6467708" cy="269462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Internship Project Information System manages the complete lifecycle of student internship projects, connecting students, teachers, and companies through a centralized platform.</a:t>
            </a:r>
          </a:p>
          <a:p>
            <a:pPr algn="just"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workflow begins with students logging in via OTP authentication, where leaders create project profiles, add team members, and submit project details for approval.</a:t>
            </a:r>
          </a:p>
        </p:txBody>
      </p:sp>
      <p:sp>
        <p:nvSpPr>
          <p:cNvPr id="194" name="PlaceHolder 3"/>
          <p:cNvSpPr>
            <a:spLocks noGrp="1"/>
          </p:cNvSpPr>
          <p:nvPr>
            <p:ph type="title"/>
          </p:nvPr>
        </p:nvSpPr>
        <p:spPr>
          <a:xfrm>
            <a:off x="723960" y="533520"/>
            <a:ext cx="828360" cy="7045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300" b="0" u="none" strike="noStrike" dirty="0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0</a:t>
            </a:r>
            <a:r>
              <a:rPr lang="fr-FR" sz="3300" dirty="0">
                <a:solidFill>
                  <a:schemeClr val="lt1"/>
                </a:solidFill>
                <a:latin typeface="Figtree Black"/>
                <a:ea typeface="Figtree Black"/>
              </a:rPr>
              <a:t>1</a:t>
            </a:r>
            <a:endParaRPr lang="fr-FR" sz="33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803C8-95C3-928A-5989-6DDBA8D47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D0CBC8-E424-D0BA-ECED-F817C0F3100E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965893" y="1089434"/>
            <a:ext cx="7090076" cy="3156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manage submissions, approvals or rejections for the project submitted by students.</a:t>
            </a:r>
          </a:p>
          <a:p>
            <a:pPr algn="just"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Throughout the process, the system tracks project statuses and provides dashboards tailored to each user role, ensuring transparency and efficient communication.</a:t>
            </a:r>
          </a:p>
          <a:p>
            <a:pPr algn="just"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users can browse approved projects and internship opportunities without needing to log in, making the system accessible and informative for all stakeholders.</a:t>
            </a:r>
            <a:endParaRPr lang="en-US" sz="14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ea typeface="Hanken Grotesk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ED008F-8380-BA95-D9BD-91490A930125}"/>
              </a:ext>
            </a:extLst>
          </p:cNvPr>
          <p:cNvSpPr txBox="1"/>
          <p:nvPr/>
        </p:nvSpPr>
        <p:spPr>
          <a:xfrm>
            <a:off x="965893" y="570454"/>
            <a:ext cx="4973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PROJECT WORKFLOW</a:t>
            </a:r>
          </a:p>
        </p:txBody>
      </p:sp>
    </p:spTree>
    <p:extLst>
      <p:ext uri="{BB962C8B-B14F-4D97-AF65-F5344CB8AC3E}">
        <p14:creationId xmlns:p14="http://schemas.microsoft.com/office/powerpoint/2010/main" val="2246575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0C38D-626A-A9A2-E583-5C1229CAD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>
            <a:extLst>
              <a:ext uri="{FF2B5EF4-FFF2-40B4-BE49-F238E27FC236}">
                <a16:creationId xmlns:a16="http://schemas.microsoft.com/office/drawing/2014/main" id="{E79C39AA-8D87-2F45-B988-15E28DA86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106" y="338133"/>
            <a:ext cx="50670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PUBLIC PORTAL (BEFORE </a:t>
            </a:r>
            <a:r>
              <a:rPr lang="fr-FR" sz="20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L</a:t>
            </a:r>
            <a:r>
              <a:rPr lang="fr-FR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OGIN)</a:t>
            </a:r>
            <a:endParaRPr lang="fr-FR" sz="20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PlaceHolder 3">
            <a:extLst>
              <a:ext uri="{FF2B5EF4-FFF2-40B4-BE49-F238E27FC236}">
                <a16:creationId xmlns:a16="http://schemas.microsoft.com/office/drawing/2014/main" id="{DAC6C914-168B-B8A8-3E25-F317E01C3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60" y="533520"/>
            <a:ext cx="828360" cy="7045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300" b="0" u="none" strike="noStrike" dirty="0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0</a:t>
            </a:r>
            <a:r>
              <a:rPr lang="fr-FR" sz="3300" dirty="0">
                <a:solidFill>
                  <a:schemeClr val="lt1"/>
                </a:solidFill>
                <a:latin typeface="Figtree Black"/>
                <a:ea typeface="Figtree Black"/>
              </a:rPr>
              <a:t>2</a:t>
            </a:r>
            <a:endParaRPr lang="fr-FR" sz="33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F4B5CD-3AB3-03BF-5114-72B558021702}"/>
              </a:ext>
            </a:extLst>
          </p:cNvPr>
          <p:cNvSpPr txBox="1"/>
          <p:nvPr/>
        </p:nvSpPr>
        <p:spPr>
          <a:xfrm>
            <a:off x="1813560" y="4151612"/>
            <a:ext cx="6643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Welcome Page for public users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49F56A-1C19-9DDA-73EF-A5415F1A58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560" y="1126861"/>
            <a:ext cx="5516880" cy="302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666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624470" y="398083"/>
            <a:ext cx="6638692" cy="52039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fr-FR" sz="1800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2</a:t>
            </a:r>
            <a:r>
              <a:rPr lang="fr-FR" sz="18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.</a:t>
            </a:r>
            <a:r>
              <a:rPr lang="fr-FR" sz="1800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1 </a:t>
            </a:r>
            <a:r>
              <a:rPr lang="fr-FR" sz="18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USER ACCESS AND NAVIGATION</a:t>
            </a:r>
            <a:endParaRPr lang="fr-FR" sz="18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subTitle"/>
          </p:nvPr>
        </p:nvSpPr>
        <p:spPr>
          <a:xfrm>
            <a:off x="676509" y="1033114"/>
            <a:ext cx="4044174" cy="182159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pPr marL="285750" indent="-285750" algn="just">
              <a:lnSpc>
                <a:spcPct val="159999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Visitors access the system's Home Page without login, guided by a navigation bar to key areas like About, Projects, and Contact.</a:t>
            </a:r>
          </a:p>
          <a:p>
            <a:pPr marL="285750" indent="-285750" algn="just">
              <a:lnSpc>
                <a:spcPct val="159999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 An “Explore” button leads to a public dashboard with general information and quick links.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4B1BCA-10BD-57F6-F1F1-030C8107D1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459" y="1223272"/>
            <a:ext cx="4103648" cy="32628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AAF994-3F02-B2B1-2331-5F454E53A6D5}"/>
              </a:ext>
            </a:extLst>
          </p:cNvPr>
          <p:cNvSpPr txBox="1"/>
          <p:nvPr/>
        </p:nvSpPr>
        <p:spPr>
          <a:xfrm>
            <a:off x="4720683" y="4486152"/>
            <a:ext cx="4371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Public Dashboard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2.2 </a:t>
            </a:r>
            <a:r>
              <a:rPr lang="fr-FR" sz="16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INFORMATION BROWSING</a:t>
            </a:r>
            <a:endParaRPr lang="fr-FR" sz="16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70BFC799-8BBB-94F9-0827-28D02A2A6C5D}"/>
              </a:ext>
            </a:extLst>
          </p:cNvPr>
          <p:cNvSpPr txBox="1">
            <a:spLocks/>
          </p:cNvSpPr>
          <p:nvPr/>
        </p:nvSpPr>
        <p:spPr>
          <a:xfrm>
            <a:off x="723960" y="1019161"/>
            <a:ext cx="3200040" cy="299715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just">
              <a:lnSpc>
                <a:spcPct val="159999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The public can view approved projects and internship companies, with options to filter and search relevant data. </a:t>
            </a:r>
          </a:p>
          <a:p>
            <a:pPr marL="285750" indent="-285750" algn="just">
              <a:lnSpc>
                <a:spcPct val="159999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Project ideas and company profiles are presented clearly to inspire and inform prospective students and visitors.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52D4A6-40C7-6C67-28B8-8D656441A2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1013" y="1222794"/>
            <a:ext cx="4289743" cy="25898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EEAE85-677A-EBB3-1A5A-3709A8E85DF7}"/>
              </a:ext>
            </a:extLst>
          </p:cNvPr>
          <p:cNvSpPr txBox="1"/>
          <p:nvPr/>
        </p:nvSpPr>
        <p:spPr>
          <a:xfrm>
            <a:off x="4401014" y="4016313"/>
            <a:ext cx="4289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:Student’s projects in project idea page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 </a:t>
            </a:r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RESTRICTION AND PROMPTS</a:t>
            </a:r>
            <a:endParaRPr lang="fr-FR" sz="16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A4160C76-B305-2559-67FC-6635961A31DA}"/>
              </a:ext>
            </a:extLst>
          </p:cNvPr>
          <p:cNvSpPr txBox="1">
            <a:spLocks/>
          </p:cNvSpPr>
          <p:nvPr/>
        </p:nvSpPr>
        <p:spPr>
          <a:xfrm>
            <a:off x="563161" y="1019160"/>
            <a:ext cx="3785813" cy="269116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28670" indent="-285750" algn="just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Public users can browse general information freely, but to submit or manage projects, login is required. </a:t>
            </a:r>
          </a:p>
          <a:p>
            <a:pPr marL="428670" indent="-285750" algn="just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The login uses an OTP system to verify student or teacher identity. </a:t>
            </a:r>
          </a:p>
          <a:p>
            <a:pPr marL="428670" indent="-285750" algn="just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Access to member-only features is restricted until authentication, ensuring secure role-based permissions.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5EE80D-573A-46E7-08CC-4F6DA77637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974" y="1190146"/>
            <a:ext cx="4497658" cy="30331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00D8BB-BA65-0808-1117-BFD8972AC29D}"/>
              </a:ext>
            </a:extLst>
          </p:cNvPr>
          <p:cNvSpPr txBox="1"/>
          <p:nvPr/>
        </p:nvSpPr>
        <p:spPr>
          <a:xfrm>
            <a:off x="4348974" y="4281642"/>
            <a:ext cx="44976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Student Login Form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1620764" y="330699"/>
            <a:ext cx="5798514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FINAL YEAR STUDENT </a:t>
            </a:r>
            <a:r>
              <a:rPr lang="fr-FR" sz="20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PORTAL </a:t>
            </a:r>
            <a:r>
              <a:rPr lang="fr-FR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WORKFLOW</a:t>
            </a:r>
            <a:endParaRPr lang="fr-FR" sz="20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title"/>
          </p:nvPr>
        </p:nvSpPr>
        <p:spPr>
          <a:xfrm>
            <a:off x="723960" y="533520"/>
            <a:ext cx="828360" cy="7045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300" b="0" u="none" strike="noStrike" dirty="0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0</a:t>
            </a:r>
            <a:r>
              <a:rPr lang="fr-FR" sz="3300" dirty="0">
                <a:solidFill>
                  <a:schemeClr val="lt1"/>
                </a:solidFill>
                <a:latin typeface="Figtree Black"/>
                <a:ea typeface="Figtree Black"/>
              </a:rPr>
              <a:t>3</a:t>
            </a:r>
            <a:endParaRPr lang="fr-FR" sz="33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130EF9-A793-C7AA-701F-A3542AA617F9}"/>
              </a:ext>
            </a:extLst>
          </p:cNvPr>
          <p:cNvSpPr txBox="1"/>
          <p:nvPr/>
        </p:nvSpPr>
        <p:spPr>
          <a:xfrm flipH="1">
            <a:off x="1620764" y="1077951"/>
            <a:ext cx="3746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3.1 </a:t>
            </a: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REGISTRATION AND SET UP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C4AE9B5A-5040-6D7C-5812-6213A504B75C}"/>
              </a:ext>
            </a:extLst>
          </p:cNvPr>
          <p:cNvSpPr txBox="1">
            <a:spLocks/>
          </p:cNvSpPr>
          <p:nvPr/>
        </p:nvSpPr>
        <p:spPr>
          <a:xfrm>
            <a:off x="1432957" y="1374387"/>
            <a:ext cx="3555356" cy="269116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28670" indent="-285750" algn="just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Students log in using their Roll Number and Email with OTP verification. </a:t>
            </a:r>
          </a:p>
          <a:p>
            <a:pPr marL="428670" indent="-285750" algn="just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Leaders fill out personal and academic details and establish their profiles. </a:t>
            </a:r>
          </a:p>
          <a:p>
            <a:pPr marL="428670" indent="-285750" algn="just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Members are added by Leaders and access the system with read-only privileges.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84B2B7-E50C-A240-BC4B-C756C6D42478}"/>
              </a:ext>
            </a:extLst>
          </p:cNvPr>
          <p:cNvSpPr txBox="1"/>
          <p:nvPr/>
        </p:nvSpPr>
        <p:spPr>
          <a:xfrm>
            <a:off x="4988313" y="4208096"/>
            <a:ext cx="3327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Student Login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640A93-E35C-E915-CF73-19BB7DD43B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8313" y="1510734"/>
            <a:ext cx="3431727" cy="269116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723959" y="535432"/>
            <a:ext cx="3788567" cy="74324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8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3.1 </a:t>
            </a: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REGISTRATION AND SET UP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20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180B56FF-008C-2EDA-D4F5-354A22E8F7FB}"/>
              </a:ext>
            </a:extLst>
          </p:cNvPr>
          <p:cNvSpPr txBox="1">
            <a:spLocks/>
          </p:cNvSpPr>
          <p:nvPr/>
        </p:nvSpPr>
        <p:spPr>
          <a:xfrm>
            <a:off x="563161" y="1019160"/>
            <a:ext cx="3785813" cy="269116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28670" indent="-285750" algn="just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Leaders enter project details including title, description, supervisor, and technology stack. </a:t>
            </a:r>
          </a:p>
          <a:p>
            <a:pPr marL="428670" indent="-285750" algn="just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Team members are added by entering Roll Numbers and Emails. </a:t>
            </a:r>
          </a:p>
          <a:p>
            <a:pPr marL="428670" indent="-285750" algn="just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The project is submitted for approval, and its status updates to Pending.</a:t>
            </a:r>
            <a:endParaRPr lang="fr-FR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51BC44-98F4-79DE-3C2D-6AD44FA489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974" y="1083003"/>
            <a:ext cx="4542265" cy="34552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CC503E-1B5C-D714-70E6-9CB8A22CE677}"/>
              </a:ext>
            </a:extLst>
          </p:cNvPr>
          <p:cNvSpPr txBox="1"/>
          <p:nvPr/>
        </p:nvSpPr>
        <p:spPr>
          <a:xfrm>
            <a:off x="4267198" y="4538270"/>
            <a:ext cx="4542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Leader’s project submit form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3</a:t>
            </a:r>
            <a:r>
              <a:rPr lang="fr-FR" sz="16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.2 PROCESS TRACKING </a:t>
            </a:r>
            <a:endParaRPr lang="fr-FR" sz="16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381CF19D-6845-FE08-ED39-46AF820B1113}"/>
              </a:ext>
            </a:extLst>
          </p:cNvPr>
          <p:cNvSpPr txBox="1">
            <a:spLocks/>
          </p:cNvSpPr>
          <p:nvPr/>
        </p:nvSpPr>
        <p:spPr>
          <a:xfrm>
            <a:off x="563161" y="1019160"/>
            <a:ext cx="3785813" cy="269116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28670" indent="-285750" algn="just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Project status is visible to both Leaders and Members on their dashboards. </a:t>
            </a:r>
          </a:p>
          <a:p>
            <a:pPr marL="428670" indent="-285750" algn="just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Students receive updates regarding approval or required changes. </a:t>
            </a:r>
          </a:p>
          <a:p>
            <a:pPr marL="428670" indent="-285750" algn="just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This ensures everyone stays informed on project progression.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28DC33-9B27-A1FE-7C26-AA1F32198BC1}"/>
              </a:ext>
            </a:extLst>
          </p:cNvPr>
          <p:cNvSpPr txBox="1"/>
          <p:nvPr/>
        </p:nvSpPr>
        <p:spPr>
          <a:xfrm>
            <a:off x="4334105" y="4177218"/>
            <a:ext cx="4564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Student Dashboard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E72E1A-8CC4-769B-6C44-18805DDC5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974" y="1167161"/>
            <a:ext cx="4564568" cy="295717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1552318" y="564851"/>
            <a:ext cx="5067000" cy="5513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TEACHER PORTAL WORKFLOW(ADMIN)</a:t>
            </a:r>
            <a:endParaRPr lang="fr-FR" sz="20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title"/>
          </p:nvPr>
        </p:nvSpPr>
        <p:spPr>
          <a:xfrm>
            <a:off x="723960" y="533520"/>
            <a:ext cx="828360" cy="7045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300" b="0" u="none" strike="noStrike" dirty="0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0</a:t>
            </a:r>
            <a:r>
              <a:rPr lang="fr-FR" sz="3300" dirty="0">
                <a:solidFill>
                  <a:schemeClr val="lt1"/>
                </a:solidFill>
                <a:latin typeface="Figtree Black"/>
                <a:ea typeface="Figtree Black"/>
              </a:rPr>
              <a:t>4</a:t>
            </a:r>
            <a:endParaRPr lang="fr-FR" sz="33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F0355A-A9D8-4D14-7BC0-912EB30DAB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529" y="1134914"/>
            <a:ext cx="5220187" cy="29050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92EBF1-A0A8-B279-9D18-41B6C6A48797}"/>
              </a:ext>
            </a:extLst>
          </p:cNvPr>
          <p:cNvSpPr txBox="1"/>
          <p:nvPr/>
        </p:nvSpPr>
        <p:spPr>
          <a:xfrm>
            <a:off x="1552318" y="4058598"/>
            <a:ext cx="52201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Admin Login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4</a:t>
            </a:r>
            <a:r>
              <a:rPr lang="fr-FR" sz="16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.1 INTERNSHIP MANAGEMENT</a:t>
            </a:r>
            <a:endParaRPr lang="fr-FR" sz="16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2D80CF77-0320-6A2D-9C64-B929DDCD21C0}"/>
              </a:ext>
            </a:extLst>
          </p:cNvPr>
          <p:cNvSpPr txBox="1">
            <a:spLocks/>
          </p:cNvSpPr>
          <p:nvPr/>
        </p:nvSpPr>
        <p:spPr>
          <a:xfrm>
            <a:off x="533425" y="1019160"/>
            <a:ext cx="3785813" cy="269116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28670" indent="-285750" algn="just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Teachers log in via institutional credentials to access a dedicated dashboard. </a:t>
            </a:r>
          </a:p>
          <a:p>
            <a:pPr marL="428670" indent="-285750" algn="just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They manage project approvals by reviewing submissions and changing project statuses. </a:t>
            </a:r>
          </a:p>
          <a:p>
            <a:pPr marL="428670" indent="-285750" algn="just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Announcements about deadlines and critical information are posted for students.</a:t>
            </a:r>
          </a:p>
          <a:p>
            <a:pPr marL="142920" algn="just">
              <a:lnSpc>
                <a:spcPct val="150000"/>
              </a:lnSpc>
              <a:tabLst>
                <a:tab pos="0" algn="l"/>
              </a:tabLst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Hanken Grotesk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6116E4-B873-8E06-77BC-7054B9B413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236" y="1200598"/>
            <a:ext cx="4572001" cy="26911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F958FE-0DC2-AF75-3BAE-287AB40CB7DB}"/>
              </a:ext>
            </a:extLst>
          </p:cNvPr>
          <p:cNvSpPr txBox="1"/>
          <p:nvPr/>
        </p:nvSpPr>
        <p:spPr>
          <a:xfrm>
            <a:off x="4319236" y="4073198"/>
            <a:ext cx="4572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Submitted project page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634750" y="456825"/>
            <a:ext cx="5082108" cy="36093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4.2</a:t>
            </a:r>
            <a:r>
              <a:rPr lang="fr-FR" sz="16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 PROJECT MONNITORING AND ACCESSMENT</a:t>
            </a:r>
            <a:endParaRPr lang="fr-FR" sz="16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713CEE18-0199-D657-B8E2-374305E190F5}"/>
              </a:ext>
            </a:extLst>
          </p:cNvPr>
          <p:cNvSpPr txBox="1">
            <a:spLocks/>
          </p:cNvSpPr>
          <p:nvPr/>
        </p:nvSpPr>
        <p:spPr>
          <a:xfrm>
            <a:off x="473952" y="959687"/>
            <a:ext cx="3785813" cy="269116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28670" indent="-285750" algn="just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Teachers oversee student’s submitted project and role assignments. </a:t>
            </a:r>
          </a:p>
          <a:p>
            <a:pPr marL="428670" indent="-285750" algn="just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They validate project details and monitor team compositions. </a:t>
            </a:r>
          </a:p>
          <a:p>
            <a:pPr marL="428670" indent="-285750" algn="just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Notifications are sent to students regarding approval, rejection, or required revisions.</a:t>
            </a:r>
          </a:p>
          <a:p>
            <a:pPr marL="142920" algn="just">
              <a:lnSpc>
                <a:spcPct val="150000"/>
              </a:lnSpc>
              <a:tabLst>
                <a:tab pos="0" algn="l"/>
              </a:tabLst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Hanken Grotesk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24133C-E3E6-FF04-A33E-C50E4C29AC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9765" y="1133870"/>
            <a:ext cx="4661211" cy="28508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4822F2-5565-A352-447F-1E259791E7FC}"/>
              </a:ext>
            </a:extLst>
          </p:cNvPr>
          <p:cNvSpPr txBox="1"/>
          <p:nvPr/>
        </p:nvSpPr>
        <p:spPr>
          <a:xfrm>
            <a:off x="4170555" y="4009630"/>
            <a:ext cx="4661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Project details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723961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1" dirty="0">
                <a:solidFill>
                  <a:schemeClr val="dk1"/>
                </a:solidFill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4</a:t>
            </a:r>
            <a:r>
              <a:rPr lang="fr-FR" sz="16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.3 REPORTING AND COMMUNICATION</a:t>
            </a:r>
            <a:endParaRPr lang="fr-FR" sz="16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F6ABA83C-A68B-5965-9620-E54B93E503BB}"/>
              </a:ext>
            </a:extLst>
          </p:cNvPr>
          <p:cNvSpPr txBox="1">
            <a:spLocks/>
          </p:cNvSpPr>
          <p:nvPr/>
        </p:nvSpPr>
        <p:spPr>
          <a:xfrm>
            <a:off x="714599" y="1019160"/>
            <a:ext cx="3619507" cy="234274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just">
              <a:lnSpc>
                <a:spcPct val="159999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Teachers create official announcements to inform students about key dates. </a:t>
            </a:r>
          </a:p>
          <a:p>
            <a:pPr marL="285750" indent="-285750" algn="just">
              <a:lnSpc>
                <a:spcPct val="159999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Profile and password management options are available for administrative control.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9E7104-F28D-FB30-7004-05037C8AE6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634" y="1211767"/>
            <a:ext cx="4609171" cy="21501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A027B9-83AC-73FF-F326-236DE13C5419}"/>
              </a:ext>
            </a:extLst>
          </p:cNvPr>
          <p:cNvSpPr txBox="1"/>
          <p:nvPr/>
        </p:nvSpPr>
        <p:spPr>
          <a:xfrm>
            <a:off x="4274634" y="3361906"/>
            <a:ext cx="4609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Teacher Dashboard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1048215" y="427255"/>
            <a:ext cx="3200040" cy="55738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Figtree Black"/>
                <a:cs typeface="Times New Roman" panose="02020603050405020304" pitchFamily="18" charset="0"/>
              </a:rPr>
              <a:t>CONCLUSION</a:t>
            </a:r>
            <a:endParaRPr lang="fr-FR" sz="20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subTitle"/>
          </p:nvPr>
        </p:nvSpPr>
        <p:spPr>
          <a:xfrm>
            <a:off x="1048215" y="847491"/>
            <a:ext cx="6861717" cy="300656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9999"/>
          </a:bodyPr>
          <a:lstStyle/>
          <a:p>
            <a:pPr marL="285750" indent="-285750" algn="just">
              <a:lnSpc>
                <a:spcPct val="169999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Internship Project Information System was created to make managing internships easier for students, teachers, and companies.</a:t>
            </a:r>
          </a:p>
          <a:p>
            <a:pPr marL="285750" indent="-285750" algn="just">
              <a:lnSpc>
                <a:spcPct val="169999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helps keep all internship details in one place, makes tracking progress simple, and improves communication between everyone involved.</a:t>
            </a:r>
          </a:p>
          <a:p>
            <a:pPr marL="285750" indent="-285750" algn="just">
              <a:lnSpc>
                <a:spcPct val="169999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works well and can be improved in the future by adding more features like reports, mobile access, and job portal links. </a:t>
            </a:r>
          </a:p>
          <a:p>
            <a:pPr marL="285750" indent="-285750" algn="just">
              <a:lnSpc>
                <a:spcPct val="169999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Grateful for teacher Dr. Daw San San Tint and our team’s supervisor associated professor Daw Ohnmar Aung and all the teachers who attend and discuss in our presentation.</a:t>
            </a:r>
          </a:p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E6F99-ED0B-617C-A325-D45563459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>
            <a:extLst>
              <a:ext uri="{FF2B5EF4-FFF2-40B4-BE49-F238E27FC236}">
                <a16:creationId xmlns:a16="http://schemas.microsoft.com/office/drawing/2014/main" id="{55B06F34-CDE5-8AC2-39F5-C5EC5CAF6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390" y="1145310"/>
            <a:ext cx="5895720" cy="142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ATTENTION!</a:t>
            </a:r>
            <a:endParaRPr lang="fr-FR" sz="48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PlaceHolder 2">
            <a:extLst>
              <a:ext uri="{FF2B5EF4-FFF2-40B4-BE49-F238E27FC236}">
                <a16:creationId xmlns:a16="http://schemas.microsoft.com/office/drawing/2014/main" id="{FA93D3DD-DA84-B91B-E987-B72529171DE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236380" y="3234690"/>
            <a:ext cx="5785140" cy="6019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 have any question , feel free to ask.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267555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720</TotalTime>
  <Words>1505</Words>
  <Application>Microsoft Office PowerPoint</Application>
  <PresentationFormat>On-screen Show (16:9)</PresentationFormat>
  <Paragraphs>179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Arial</vt:lpstr>
      <vt:lpstr>Calibri</vt:lpstr>
      <vt:lpstr>Figtree Black</vt:lpstr>
      <vt:lpstr>Hanken Grotesk</vt:lpstr>
      <vt:lpstr>OpenSymbol</vt:lpstr>
      <vt:lpstr>Symbol</vt:lpstr>
      <vt:lpstr>Times New Roman</vt:lpstr>
      <vt:lpstr>Wingdings</vt:lpstr>
      <vt:lpstr>Elegant Black &amp; White Thesis Defense by Slidesgo</vt:lpstr>
      <vt:lpstr>Slidesgo Final Pages</vt:lpstr>
      <vt:lpstr>PowerPoint Presentation</vt:lpstr>
      <vt:lpstr>OUTLINE OF PRESENTATION</vt:lpstr>
      <vt:lpstr> 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WORKFLOW</vt:lpstr>
      <vt:lpstr>PowerPoint Presentation</vt:lpstr>
      <vt:lpstr>PUBLIC PORTAL (BEFORE LOGIN)</vt:lpstr>
      <vt:lpstr>2.1 USER ACCESS AND NAVIGATION</vt:lpstr>
      <vt:lpstr>2.2 INFORMATION BROWSING</vt:lpstr>
      <vt:lpstr>2.3 ACCESS RESTRICTION AND PROMPTS</vt:lpstr>
      <vt:lpstr>FINAL YEAR STUDENT PORTAL WORKFLOW</vt:lpstr>
      <vt:lpstr>3.1 REGISTRATION AND SET UP </vt:lpstr>
      <vt:lpstr>3.2 PROCESS TRACKING </vt:lpstr>
      <vt:lpstr>TEACHER PORTAL WORKFLOW(ADMIN)</vt:lpstr>
      <vt:lpstr>4.1 INTERNSHIP MANAGEMENT</vt:lpstr>
      <vt:lpstr>4.2 PROJECT MONNITORING AND ACCESSMENT</vt:lpstr>
      <vt:lpstr>4.3 REPORTING AND COMMUNICATION</vt:lpstr>
      <vt:lpstr>CONCLUSION</vt:lpstr>
      <vt:lpstr>THANK YOU FOR YOUR ATTENTION!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USER</cp:lastModifiedBy>
  <cp:revision>162</cp:revision>
  <dcterms:modified xsi:type="dcterms:W3CDTF">2025-08-12T07:33:44Z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2025-08-08T03:47:44Z</dcterms:created>
  <dc:creator>Unknown Creator</dc:creator>
  <dc:description/>
  <dc:language>en-US</dc:language>
  <cp:lastModifiedBy>Unknown Creator</cp:lastModifiedBy>
  <dcterms:modified xsi:type="dcterms:W3CDTF">2025-08-08T03:47:44Z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