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36"/>
  </p:notesMasterIdLst>
  <p:handoutMasterIdLst>
    <p:handoutMasterId r:id="rId37"/>
  </p:handoutMasterIdLst>
  <p:sldIdLst>
    <p:sldId id="256" r:id="rId3"/>
    <p:sldId id="279" r:id="rId4"/>
    <p:sldId id="292" r:id="rId5"/>
    <p:sldId id="285" r:id="rId6"/>
    <p:sldId id="284" r:id="rId7"/>
    <p:sldId id="286" r:id="rId8"/>
    <p:sldId id="287" r:id="rId9"/>
    <p:sldId id="288" r:id="rId10"/>
    <p:sldId id="289" r:id="rId11"/>
    <p:sldId id="290" r:id="rId12"/>
    <p:sldId id="257" r:id="rId13"/>
    <p:sldId id="294" r:id="rId14"/>
    <p:sldId id="297" r:id="rId15"/>
    <p:sldId id="295" r:id="rId16"/>
    <p:sldId id="296" r:id="rId17"/>
    <p:sldId id="270" r:id="rId18"/>
    <p:sldId id="271" r:id="rId19"/>
    <p:sldId id="302" r:id="rId20"/>
    <p:sldId id="303" r:id="rId21"/>
    <p:sldId id="304" r:id="rId22"/>
    <p:sldId id="305" r:id="rId23"/>
    <p:sldId id="280" r:id="rId24"/>
    <p:sldId id="263" r:id="rId25"/>
    <p:sldId id="264" r:id="rId26"/>
    <p:sldId id="306" r:id="rId27"/>
    <p:sldId id="307" r:id="rId28"/>
    <p:sldId id="266" r:id="rId29"/>
    <p:sldId id="298" r:id="rId30"/>
    <p:sldId id="299" r:id="rId31"/>
    <p:sldId id="300" r:id="rId32"/>
    <p:sldId id="301" r:id="rId33"/>
    <p:sldId id="274" r:id="rId34"/>
    <p:sldId id="283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14A211-5C2D-B980-3A4B-68D3632D4B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D264B-6477-69D5-E631-23E54DE64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1E18-580D-4F6A-B14E-8762E028DFC1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6720C-850C-7A1E-CBB7-81AC28B2C9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F940E-EDFE-4854-25B6-B5D4C4089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97A9A-995E-4305-8164-FD3040BE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46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6CA1-E93E-43C7-A5AA-BBB6DB7EDC3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7770-D9D3-47B0-A81C-C970C15EC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89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2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/>
          <p:cNvSpPr/>
          <p:nvPr/>
        </p:nvSpPr>
        <p:spPr>
          <a:xfrm>
            <a:off x="7346160" y="130320"/>
            <a:ext cx="4888800" cy="4888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10;p2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2" name="Google Shape;11;p2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" name="Google Shape;12;p2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" name="Google Shape;13;p2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87200" y="1670040"/>
            <a:ext cx="58971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0;p11"/>
          <p:cNvSpPr/>
          <p:nvPr/>
        </p:nvSpPr>
        <p:spPr>
          <a:xfrm>
            <a:off x="-342288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81;p11"/>
          <p:cNvGrpSpPr/>
          <p:nvPr/>
        </p:nvGrpSpPr>
        <p:grpSpPr>
          <a:xfrm>
            <a:off x="727200" y="-382320"/>
            <a:ext cx="7703280" cy="5906880"/>
            <a:chOff x="727200" y="-382320"/>
            <a:chExt cx="7703280" cy="5906880"/>
          </a:xfrm>
        </p:grpSpPr>
        <p:sp>
          <p:nvSpPr>
            <p:cNvPr id="9" name="Google Shape;82;p11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" name="Google Shape;83;p11"/>
            <p:cNvCxnSpPr/>
            <p:nvPr/>
          </p:nvCxnSpPr>
          <p:spPr>
            <a:xfrm>
              <a:off x="727200" y="4608360"/>
              <a:ext cx="360" cy="9165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" name="Google Shape;84;p11"/>
            <p:cNvCxnSpPr/>
            <p:nvPr/>
          </p:nvCxnSpPr>
          <p:spPr>
            <a:xfrm>
              <a:off x="8430480" y="-382320"/>
              <a:ext cx="360" cy="91620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03160" y="1856160"/>
            <a:ext cx="5827320" cy="1024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fr-FR" sz="49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89;p13"/>
          <p:cNvSpPr/>
          <p:nvPr/>
        </p:nvSpPr>
        <p:spPr>
          <a:xfrm>
            <a:off x="-941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90;p13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5" name="Google Shape;91;p1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" name="Google Shape;92;p13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" name="Google Shape;93;p13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312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91944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3508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91944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352836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/>
          </p:nvPr>
        </p:nvSpPr>
        <p:spPr>
          <a:xfrm>
            <a:off x="6136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title"/>
          </p:nvPr>
        </p:nvSpPr>
        <p:spPr>
          <a:xfrm>
            <a:off x="613692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4;p14"/>
          <p:cNvSpPr/>
          <p:nvPr/>
        </p:nvSpPr>
        <p:spPr>
          <a:xfrm>
            <a:off x="-2125440" y="3018600"/>
            <a:ext cx="4242960" cy="424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6" name="Google Shape;115;p14"/>
          <p:cNvGrpSpPr/>
          <p:nvPr/>
        </p:nvGrpSpPr>
        <p:grpSpPr>
          <a:xfrm>
            <a:off x="727200" y="-29160"/>
            <a:ext cx="8550720" cy="4637520"/>
            <a:chOff x="727200" y="-29160"/>
            <a:chExt cx="8550720" cy="4637520"/>
          </a:xfrm>
        </p:grpSpPr>
        <p:sp>
          <p:nvSpPr>
            <p:cNvPr id="27" name="Google Shape;116;p14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8" name="Google Shape;117;p14"/>
            <p:cNvCxnSpPr/>
            <p:nvPr/>
          </p:nvCxnSpPr>
          <p:spPr>
            <a:xfrm flipV="1">
              <a:off x="727200" y="-29160"/>
              <a:ext cx="360" cy="5630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29" name="Google Shape;118;p14"/>
            <p:cNvCxnSpPr/>
            <p:nvPr/>
          </p:nvCxnSpPr>
          <p:spPr>
            <a:xfrm>
              <a:off x="8430480" y="4608360"/>
              <a:ext cx="8478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12200" y="2464560"/>
            <a:ext cx="59137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22;p15"/>
          <p:cNvSpPr/>
          <p:nvPr/>
        </p:nvSpPr>
        <p:spPr>
          <a:xfrm>
            <a:off x="355284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123;p15"/>
          <p:cNvGrpSpPr/>
          <p:nvPr/>
        </p:nvGrpSpPr>
        <p:grpSpPr>
          <a:xfrm>
            <a:off x="-50400" y="232560"/>
            <a:ext cx="8961120" cy="4684680"/>
            <a:chOff x="-50400" y="232560"/>
            <a:chExt cx="8961120" cy="4684680"/>
          </a:xfrm>
        </p:grpSpPr>
        <p:sp>
          <p:nvSpPr>
            <p:cNvPr id="33" name="Google Shape;124;p1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4" name="Google Shape;125;p15"/>
            <p:cNvCxnSpPr/>
            <p:nvPr/>
          </p:nvCxnSpPr>
          <p:spPr>
            <a:xfrm flipH="1">
              <a:off x="-50400" y="232560"/>
              <a:ext cx="309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1203840"/>
            <a:ext cx="31978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493880" y="0"/>
            <a:ext cx="4649760" cy="5143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30;p16"/>
          <p:cNvSpPr/>
          <p:nvPr/>
        </p:nvSpPr>
        <p:spPr>
          <a:xfrm>
            <a:off x="-923040" y="-94536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31;p16"/>
          <p:cNvGrpSpPr/>
          <p:nvPr/>
        </p:nvGrpSpPr>
        <p:grpSpPr>
          <a:xfrm>
            <a:off x="-18720" y="232560"/>
            <a:ext cx="9175680" cy="4684680"/>
            <a:chOff x="-18720" y="232560"/>
            <a:chExt cx="9175680" cy="4684680"/>
          </a:xfrm>
        </p:grpSpPr>
        <p:sp>
          <p:nvSpPr>
            <p:cNvPr id="39" name="Google Shape;132;p1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" name="Google Shape;133;p16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1" name="Google Shape;134;p16"/>
            <p:cNvCxnSpPr/>
            <p:nvPr/>
          </p:nvCxnSpPr>
          <p:spPr>
            <a:xfrm>
              <a:off x="8917200" y="4917240"/>
              <a:ext cx="24012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78760" y="1533240"/>
            <a:ext cx="302472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38;p1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" name="Google Shape;139;p17"/>
          <p:cNvGrpSpPr/>
          <p:nvPr/>
        </p:nvGrpSpPr>
        <p:grpSpPr>
          <a:xfrm>
            <a:off x="232200" y="232560"/>
            <a:ext cx="8937720" cy="4933080"/>
            <a:chOff x="232200" y="232560"/>
            <a:chExt cx="8937720" cy="4933080"/>
          </a:xfrm>
        </p:grpSpPr>
        <p:sp>
          <p:nvSpPr>
            <p:cNvPr id="45" name="Google Shape;140;p1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6" name="Google Shape;141;p17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7" name="Google Shape;142;p17"/>
            <p:cNvCxnSpPr/>
            <p:nvPr/>
          </p:nvCxnSpPr>
          <p:spPr>
            <a:xfrm>
              <a:off x="233280" y="4912920"/>
              <a:ext cx="360" cy="25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46;p18"/>
          <p:cNvSpPr/>
          <p:nvPr/>
        </p:nvSpPr>
        <p:spPr>
          <a:xfrm>
            <a:off x="7069320" y="3282840"/>
            <a:ext cx="3701520" cy="37015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" name="Google Shape;147;p18"/>
          <p:cNvGrpSpPr/>
          <p:nvPr/>
        </p:nvGrpSpPr>
        <p:grpSpPr>
          <a:xfrm>
            <a:off x="-18720" y="232560"/>
            <a:ext cx="8929800" cy="5117400"/>
            <a:chOff x="-18720" y="232560"/>
            <a:chExt cx="8929800" cy="5117400"/>
          </a:xfrm>
        </p:grpSpPr>
        <p:sp>
          <p:nvSpPr>
            <p:cNvPr id="51" name="Google Shape;148;p18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2" name="Google Shape;149;p18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3" name="Google Shape;150;p18"/>
            <p:cNvCxnSpPr/>
            <p:nvPr/>
          </p:nvCxnSpPr>
          <p:spPr>
            <a:xfrm flipV="1">
              <a:off x="8911080" y="4916880"/>
              <a:ext cx="360" cy="4334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54;p19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155;p19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57" name="Google Shape;156;p19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57;p19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9" name="Google Shape;158;p19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67;p20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168;p20"/>
          <p:cNvGrpSpPr/>
          <p:nvPr/>
        </p:nvGrpSpPr>
        <p:grpSpPr>
          <a:xfrm>
            <a:off x="-720" y="1466640"/>
            <a:ext cx="939600" cy="2327040"/>
            <a:chOff x="-720" y="1466640"/>
            <a:chExt cx="939600" cy="2327040"/>
          </a:xfrm>
        </p:grpSpPr>
        <p:cxnSp>
          <p:nvCxnSpPr>
            <p:cNvPr id="63" name="Google Shape;169;p20"/>
            <p:cNvCxnSpPr/>
            <p:nvPr/>
          </p:nvCxnSpPr>
          <p:spPr>
            <a:xfrm>
              <a:off x="-720" y="146664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4" name="Google Shape;170;p20"/>
            <p:cNvCxnSpPr/>
            <p:nvPr/>
          </p:nvCxnSpPr>
          <p:spPr>
            <a:xfrm>
              <a:off x="-720" y="266832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5" name="Google Shape;171;p20"/>
            <p:cNvCxnSpPr/>
            <p:nvPr/>
          </p:nvCxnSpPr>
          <p:spPr>
            <a:xfrm>
              <a:off x="-720" y="379368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grpSp>
        <p:nvGrpSpPr>
          <p:cNvPr id="66" name="Google Shape;172;p20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67" name="Google Shape;173;p20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8" name="Google Shape;174;p20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9" name="Google Shape;175;p20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7;p3"/>
          <p:cNvSpPr/>
          <p:nvPr/>
        </p:nvSpPr>
        <p:spPr>
          <a:xfrm>
            <a:off x="643356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2" name="Google Shape;18;p3"/>
          <p:cNvGrpSpPr/>
          <p:nvPr/>
        </p:nvGrpSpPr>
        <p:grpSpPr>
          <a:xfrm>
            <a:off x="713160" y="-62280"/>
            <a:ext cx="7717320" cy="5209560"/>
            <a:chOff x="713160" y="-62280"/>
            <a:chExt cx="7717320" cy="5209560"/>
          </a:xfrm>
        </p:grpSpPr>
        <p:sp>
          <p:nvSpPr>
            <p:cNvPr id="73" name="Google Shape;19;p3"/>
            <p:cNvSpPr/>
            <p:nvPr/>
          </p:nvSpPr>
          <p:spPr>
            <a:xfrm>
              <a:off x="713160" y="533520"/>
              <a:ext cx="77173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4" name="Google Shape;20;p3"/>
            <p:cNvCxnSpPr/>
            <p:nvPr/>
          </p:nvCxnSpPr>
          <p:spPr>
            <a:xfrm flipV="1">
              <a:off x="713160" y="-62280"/>
              <a:ext cx="360" cy="5961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75" name="Google Shape;21;p3"/>
            <p:cNvCxnSpPr/>
            <p:nvPr/>
          </p:nvCxnSpPr>
          <p:spPr>
            <a:xfrm>
              <a:off x="8430480" y="4608360"/>
              <a:ext cx="360" cy="5392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6440" y="197712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720000" y="533520"/>
            <a:ext cx="82404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3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84;p21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0" name="Google Shape;185;p21"/>
          <p:cNvGrpSpPr/>
          <p:nvPr/>
        </p:nvGrpSpPr>
        <p:grpSpPr>
          <a:xfrm>
            <a:off x="232200" y="-59760"/>
            <a:ext cx="9070200" cy="4977000"/>
            <a:chOff x="232200" y="-59760"/>
            <a:chExt cx="9070200" cy="4977000"/>
          </a:xfrm>
        </p:grpSpPr>
        <p:sp>
          <p:nvSpPr>
            <p:cNvPr id="81" name="Google Shape;186;p21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2" name="Google Shape;187;p21"/>
            <p:cNvCxnSpPr/>
            <p:nvPr/>
          </p:nvCxnSpPr>
          <p:spPr>
            <a:xfrm flipV="1">
              <a:off x="232200" y="-59760"/>
              <a:ext cx="360" cy="2966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3" name="Google Shape;188;p21"/>
            <p:cNvCxnSpPr/>
            <p:nvPr/>
          </p:nvCxnSpPr>
          <p:spPr>
            <a:xfrm>
              <a:off x="8904600" y="4917240"/>
              <a:ext cx="3981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97;p22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98;p22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87" name="Google Shape;199;p22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8" name="Google Shape;200;p22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9" name="Google Shape;201;p22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212;p23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13;p23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93" name="Google Shape;214;p2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4" name="Google Shape;215;p23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95" name="Google Shape;216;p23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44;p25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7" name="Google Shape;245;p25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08" name="Google Shape;246;p2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9" name="Google Shape;247;p25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0" name="Google Shape;248;p25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51;p26"/>
          <p:cNvSpPr/>
          <p:nvPr/>
        </p:nvSpPr>
        <p:spPr>
          <a:xfrm>
            <a:off x="-92448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" name="Google Shape;252;p26"/>
          <p:cNvGrpSpPr/>
          <p:nvPr/>
        </p:nvGrpSpPr>
        <p:grpSpPr>
          <a:xfrm>
            <a:off x="232200" y="232560"/>
            <a:ext cx="8988120" cy="4964400"/>
            <a:chOff x="232200" y="232560"/>
            <a:chExt cx="8988120" cy="4964400"/>
          </a:xfrm>
        </p:grpSpPr>
        <p:sp>
          <p:nvSpPr>
            <p:cNvPr id="114" name="Google Shape;253;p2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15" name="Google Shape;254;p26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6" name="Google Shape;255;p26"/>
            <p:cNvCxnSpPr/>
            <p:nvPr/>
          </p:nvCxnSpPr>
          <p:spPr>
            <a:xfrm flipV="1">
              <a:off x="23220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8;p27"/>
          <p:cNvSpPr/>
          <p:nvPr/>
        </p:nvSpPr>
        <p:spPr>
          <a:xfrm>
            <a:off x="6677280" y="-9000"/>
            <a:ext cx="5161320" cy="5161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259;p27"/>
          <p:cNvGrpSpPr/>
          <p:nvPr/>
        </p:nvGrpSpPr>
        <p:grpSpPr>
          <a:xfrm>
            <a:off x="713160" y="-78840"/>
            <a:ext cx="8790840" cy="4687200"/>
            <a:chOff x="713160" y="-78840"/>
            <a:chExt cx="8790840" cy="4687200"/>
          </a:xfrm>
        </p:grpSpPr>
        <p:sp>
          <p:nvSpPr>
            <p:cNvPr id="120" name="Google Shape;260;p27"/>
            <p:cNvSpPr/>
            <p:nvPr/>
          </p:nvSpPr>
          <p:spPr>
            <a:xfrm>
              <a:off x="713160" y="533520"/>
              <a:ext cx="78631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1" name="Google Shape;261;p27"/>
            <p:cNvCxnSpPr/>
            <p:nvPr/>
          </p:nvCxnSpPr>
          <p:spPr>
            <a:xfrm flipV="1">
              <a:off x="713160" y="-78840"/>
              <a:ext cx="360" cy="6249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22" name="Google Shape;262;p27"/>
            <p:cNvCxnSpPr/>
            <p:nvPr/>
          </p:nvCxnSpPr>
          <p:spPr>
            <a:xfrm>
              <a:off x="8571600" y="4608360"/>
              <a:ext cx="9327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Google Shape;265;p27"/>
          <p:cNvSpPr/>
          <p:nvPr/>
        </p:nvSpPr>
        <p:spPr>
          <a:xfrm>
            <a:off x="1094400" y="3384000"/>
            <a:ext cx="57967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6;p4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7" name="Google Shape;27;p4"/>
          <p:cNvGrpSpPr/>
          <p:nvPr/>
        </p:nvGrpSpPr>
        <p:grpSpPr>
          <a:xfrm>
            <a:off x="-18720" y="232560"/>
            <a:ext cx="8929800" cy="5027400"/>
            <a:chOff x="-18720" y="232560"/>
            <a:chExt cx="8929800" cy="5027400"/>
          </a:xfrm>
        </p:grpSpPr>
        <p:sp>
          <p:nvSpPr>
            <p:cNvPr id="138" name="Google Shape;28;p4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9" name="Google Shape;29;p4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0" name="Google Shape;30;p4"/>
            <p:cNvCxnSpPr/>
            <p:nvPr/>
          </p:nvCxnSpPr>
          <p:spPr>
            <a:xfrm>
              <a:off x="8911080" y="4917240"/>
              <a:ext cx="360" cy="34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4;p5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4" name="Google Shape;35;p5"/>
          <p:cNvGrpSpPr/>
          <p:nvPr/>
        </p:nvGrpSpPr>
        <p:grpSpPr>
          <a:xfrm>
            <a:off x="-77040" y="232560"/>
            <a:ext cx="8988120" cy="4964400"/>
            <a:chOff x="-77040" y="232560"/>
            <a:chExt cx="8988120" cy="4964400"/>
          </a:xfrm>
        </p:grpSpPr>
        <p:sp>
          <p:nvSpPr>
            <p:cNvPr id="145" name="Google Shape;36;p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46" name="Google Shape;37;p5"/>
            <p:cNvCxnSpPr/>
            <p:nvPr/>
          </p:nvCxnSpPr>
          <p:spPr>
            <a:xfrm flipH="1">
              <a:off x="-7704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7" name="Google Shape;38;p5"/>
            <p:cNvCxnSpPr/>
            <p:nvPr/>
          </p:nvCxnSpPr>
          <p:spPr>
            <a:xfrm flipV="1">
              <a:off x="891108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54;p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8" name="Google Shape;55;p7"/>
          <p:cNvGrpSpPr/>
          <p:nvPr/>
        </p:nvGrpSpPr>
        <p:grpSpPr>
          <a:xfrm>
            <a:off x="-18720" y="-15840"/>
            <a:ext cx="8929800" cy="4933080"/>
            <a:chOff x="-18720" y="-15840"/>
            <a:chExt cx="8929800" cy="4933080"/>
          </a:xfrm>
        </p:grpSpPr>
        <p:sp>
          <p:nvSpPr>
            <p:cNvPr id="159" name="Google Shape;56;p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0" name="Google Shape;57;p7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1" name="Google Shape;58;p7"/>
            <p:cNvCxnSpPr/>
            <p:nvPr/>
          </p:nvCxnSpPr>
          <p:spPr>
            <a:xfrm flipV="1">
              <a:off x="8911080" y="-15840"/>
              <a:ext cx="360" cy="2588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4482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62;p8"/>
          <p:cNvSpPr/>
          <p:nvPr/>
        </p:nvSpPr>
        <p:spPr>
          <a:xfrm>
            <a:off x="2007360" y="277704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4" name="Google Shape;63;p8"/>
          <p:cNvGrpSpPr/>
          <p:nvPr/>
        </p:nvGrpSpPr>
        <p:grpSpPr>
          <a:xfrm>
            <a:off x="0" y="533520"/>
            <a:ext cx="9270720" cy="4074840"/>
            <a:chOff x="0" y="533520"/>
            <a:chExt cx="9270720" cy="4074840"/>
          </a:xfrm>
        </p:grpSpPr>
        <p:sp>
          <p:nvSpPr>
            <p:cNvPr id="165" name="Google Shape;64;p8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6" name="Google Shape;65;p8"/>
            <p:cNvCxnSpPr/>
            <p:nvPr/>
          </p:nvCxnSpPr>
          <p:spPr>
            <a:xfrm flipH="1">
              <a:off x="8430840" y="533520"/>
              <a:ext cx="840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7" name="Google Shape;66;p8"/>
            <p:cNvCxnSpPr/>
            <p:nvPr/>
          </p:nvCxnSpPr>
          <p:spPr>
            <a:xfrm flipH="1">
              <a:off x="0" y="4608360"/>
              <a:ext cx="74088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644480" y="1733400"/>
            <a:ext cx="585468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69;p9"/>
          <p:cNvSpPr/>
          <p:nvPr/>
        </p:nvSpPr>
        <p:spPr>
          <a:xfrm>
            <a:off x="-2613600" y="-126000"/>
            <a:ext cx="5401800" cy="5401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0" name="Google Shape;70;p9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171" name="Google Shape;71;p9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72" name="Google Shape;72;p9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3" name="Google Shape;73;p9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496680" y="1021680"/>
            <a:ext cx="4294440" cy="209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00FE0-FB12-6CC7-7310-D2EA0B1FEF1F}"/>
              </a:ext>
            </a:extLst>
          </p:cNvPr>
          <p:cNvSpPr txBox="1"/>
          <p:nvPr/>
        </p:nvSpPr>
        <p:spPr>
          <a:xfrm>
            <a:off x="2244090" y="728557"/>
            <a:ext cx="733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UNIVERSITY OF COMPUTER STUDIES, (MANDALAY</a:t>
            </a:r>
            <a:r>
              <a:rPr lang="en-US" b="1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C240C-26A8-7242-D828-096837CACD4B}"/>
              </a:ext>
            </a:extLst>
          </p:cNvPr>
          <p:cNvSpPr txBox="1"/>
          <p:nvPr/>
        </p:nvSpPr>
        <p:spPr>
          <a:xfrm flipH="1">
            <a:off x="2838449" y="1190222"/>
            <a:ext cx="534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Training and Project Presentation 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“Accomplished in D.I.S Technology Co,. Ltd ”</a:t>
            </a:r>
          </a:p>
        </p:txBody>
      </p:sp>
      <p:pic>
        <p:nvPicPr>
          <p:cNvPr id="7" name="Picture 58">
            <a:extLst>
              <a:ext uri="{FF2B5EF4-FFF2-40B4-BE49-F238E27FC236}">
                <a16:creationId xmlns:a16="http://schemas.microsoft.com/office/drawing/2014/main" id="{FF5E634C-00D8-ECAC-8DDD-D57165A0D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" y="594359"/>
            <a:ext cx="1584959" cy="149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3A5ED5-3600-4C1E-F36E-E474A931501F}"/>
              </a:ext>
            </a:extLst>
          </p:cNvPr>
          <p:cNvSpPr txBox="1"/>
          <p:nvPr/>
        </p:nvSpPr>
        <p:spPr>
          <a:xfrm>
            <a:off x="986790" y="3055621"/>
            <a:ext cx="2514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 Ohnmar Aung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09335-7054-24E9-04FA-8C5D4E7A058A}"/>
              </a:ext>
            </a:extLst>
          </p:cNvPr>
          <p:cNvSpPr txBox="1"/>
          <p:nvPr/>
        </p:nvSpPr>
        <p:spPr>
          <a:xfrm>
            <a:off x="4792980" y="3055621"/>
            <a:ext cx="3246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Su Hlaing	KPTM-10896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Yee Mon Hlwar	KPTM-10897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Hnin Wut Yee	KPTM-10900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147B3-9280-2219-9DE0-4749ED8885DF}"/>
              </a:ext>
            </a:extLst>
          </p:cNvPr>
          <p:cNvSpPr txBox="1"/>
          <p:nvPr/>
        </p:nvSpPr>
        <p:spPr>
          <a:xfrm>
            <a:off x="5854066" y="1928886"/>
            <a:ext cx="232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Date:15.8.2025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08791-ECAF-BC3D-ACAE-8C78A6CB08EB}"/>
              </a:ext>
            </a:extLst>
          </p:cNvPr>
          <p:cNvSpPr txBox="1"/>
          <p:nvPr/>
        </p:nvSpPr>
        <p:spPr>
          <a:xfrm>
            <a:off x="8180071" y="433229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19E9-8243-C635-A686-DBF81370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C5E93BED-BCF9-1A7E-D9CB-E48F821C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330" y="550636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PRESENTATION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75BD4970-A7D9-E488-868A-EAC12F14787F}"/>
              </a:ext>
            </a:extLst>
          </p:cNvPr>
          <p:cNvSpPr/>
          <p:nvPr/>
        </p:nvSpPr>
        <p:spPr>
          <a:xfrm>
            <a:off x="698930" y="550636"/>
            <a:ext cx="914400" cy="914400"/>
          </a:xfrm>
          <a:prstGeom prst="star5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2FEA71-4AD5-198A-F8C5-D89CE777322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13330" y="1390477"/>
            <a:ext cx="6081012" cy="322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OF D.I.S TECHNOLOGY Co., Ltd</a:t>
            </a:r>
          </a:p>
          <a:p>
            <a:pPr marL="457200" indent="-4572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DCACE-25DA-C747-17EA-DD638B956B74}"/>
              </a:ext>
            </a:extLst>
          </p:cNvPr>
          <p:cNvSpPr txBox="1"/>
          <p:nvPr/>
        </p:nvSpPr>
        <p:spPr>
          <a:xfrm>
            <a:off x="8180267" y="434154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729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8122-A585-70F4-6F85-E0282CB8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1173C0-1F68-94DF-C0BB-A34B2779B49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05873" y="505335"/>
            <a:ext cx="7873307" cy="39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internship-related data securely and provides easy access to authorized users.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ASP.NET Core MVC with a responsive design for desktop and mobile use.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and automate the internship project management process.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platform for students, companies, and supervisors to collaborate effectively.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manual tracking errors.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and transparency among all parties involved.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improves the overall internship experience for students.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AEBC9-7F40-10D7-CE88-A82C452D0D24}"/>
              </a:ext>
            </a:extLst>
          </p:cNvPr>
          <p:cNvSpPr txBox="1"/>
          <p:nvPr/>
        </p:nvSpPr>
        <p:spPr>
          <a:xfrm>
            <a:off x="965893" y="505335"/>
            <a:ext cx="4461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8EFE5-BABE-EDF8-46DD-5FF48A7510BF}"/>
              </a:ext>
            </a:extLst>
          </p:cNvPr>
          <p:cNvSpPr txBox="1"/>
          <p:nvPr/>
        </p:nvSpPr>
        <p:spPr>
          <a:xfrm>
            <a:off x="8587215" y="462389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7708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D070-0D88-82F3-C07F-BF4EB735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0DDAA-E1FF-C1C2-8E8C-A4120CE8CB4C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810324" y="1072761"/>
            <a:ext cx="7932780" cy="360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Co., Ltd. was founded in 2009 as part of the PAG Group, driven by a vision to lead Myanmar’s digital transformation.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began with a small team and grew into one of the country’s top IT solution providers, serving both government and private sectors.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earning multiple government recognitions, D.I.S became known for major projects like e-Driving License Systems, IRD Documentation Systems, and Banking Applications.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the company has a strong workforce of 100+ talented professionals across software development, project management, and technical support.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contact D.I.S Technology at No.131, Kanar Road, Thanlyin Township, Yangon, 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Tel: [09796727093], Email: [discompany@pag98.com].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027CD-B3C1-650C-F517-0F9FB65D6B6C}"/>
              </a:ext>
            </a:extLst>
          </p:cNvPr>
          <p:cNvSpPr txBox="1"/>
          <p:nvPr/>
        </p:nvSpPr>
        <p:spPr>
          <a:xfrm>
            <a:off x="810324" y="520203"/>
            <a:ext cx="6616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D.I.S TECHNOLOGY Co., Ltd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CA167-BC18-2C18-C4E0-87F725973DE3}"/>
              </a:ext>
            </a:extLst>
          </p:cNvPr>
          <p:cNvSpPr txBox="1"/>
          <p:nvPr/>
        </p:nvSpPr>
        <p:spPr>
          <a:xfrm>
            <a:off x="8673529" y="460873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6087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73CE-D5A0-969F-AC0F-DD9B72A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271F3C-A5A7-3C4A-454F-FC98E73B86A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3721"/>
            <a:ext cx="7090076" cy="31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design and develop a database to store internship and project details securely.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skills in using ASP.NET Core MVC for building web-based management systems.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ideas by reviewing multiple existing internship and project management platforms.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teamwork and communication skills by collaborating with peers and industry partners during the project.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0FE3E-3FAF-076B-53EF-F472FDBC6C5E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06929-9206-BAB4-3BC5-D1F34A832991}"/>
              </a:ext>
            </a:extLst>
          </p:cNvPr>
          <p:cNvSpPr txBox="1"/>
          <p:nvPr/>
        </p:nvSpPr>
        <p:spPr>
          <a:xfrm>
            <a:off x="8661556" y="4624039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992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168E-BD27-3AA2-1CA4-86469B72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8F19AC-F22D-28B0-88EC-D4627AB142E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05445"/>
            <a:ext cx="7090076" cy="347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latest technologies like C#, .NET Core MVC, React.js, and MSSQL.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 and supportive work environment.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teamwork and open communication culture.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on real projects and apply knowledge practically.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mentorship from senior developers.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F22C7-13D4-3656-BDA7-6B3A79EE2146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2EBC4-D158-CFE6-54F1-1125ABA88363}"/>
              </a:ext>
            </a:extLst>
          </p:cNvPr>
          <p:cNvSpPr txBox="1"/>
          <p:nvPr/>
        </p:nvSpPr>
        <p:spPr>
          <a:xfrm>
            <a:off x="8661556" y="461660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4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D7F2-FFD6-5A84-2251-CF575428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CD751-728C-7017-663E-EFE45D9A3621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739040"/>
            <a:ext cx="7090076" cy="23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involvement of interns in some projects.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processes and tools still developing and need improvement.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opportunities for interns to participate in client-facing meetings.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A068-C831-58A4-0293-09529F3AD383}"/>
              </a:ext>
            </a:extLst>
          </p:cNvPr>
          <p:cNvSpPr txBox="1"/>
          <p:nvPr/>
        </p:nvSpPr>
        <p:spPr>
          <a:xfrm>
            <a:off x="965893" y="53898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532DD-8246-0AC4-44CA-960366DE4F04}"/>
              </a:ext>
            </a:extLst>
          </p:cNvPr>
          <p:cNvSpPr txBox="1"/>
          <p:nvPr/>
        </p:nvSpPr>
        <p:spPr>
          <a:xfrm>
            <a:off x="8661556" y="462403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403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214-7A9F-4920-78ED-B3B28C0F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0F226-12BB-8C1D-6E4E-8C668407645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57729"/>
            <a:ext cx="7090076" cy="2832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to adopt and explore emerging tech like cloud computing or AI.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to expand into mobile app development.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mentorship from experienced developers.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internship programs to attract more talent.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7CA0E-C8A5-4DDC-54B8-340647995B08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88039-CCF4-5942-AF5C-5F3252A23458}"/>
              </a:ext>
            </a:extLst>
          </p:cNvPr>
          <p:cNvSpPr txBox="1"/>
          <p:nvPr/>
        </p:nvSpPr>
        <p:spPr>
          <a:xfrm>
            <a:off x="8661556" y="4601736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41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8AC1-F283-4367-0F14-3E4F3ACD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A38BE2-C9D3-F0E4-71C2-CCE9E4DB7AD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4624"/>
            <a:ext cx="7090076" cy="1992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instability might reduce project budgets.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competition from bigger IT companies and outsourcing firms.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limitations sometimes cause delays in project delivery timelines.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E5A84-7275-07CD-1651-4C834E02E857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D65A8-56C8-EDCF-DE22-D71C115BD370}"/>
              </a:ext>
            </a:extLst>
          </p:cNvPr>
          <p:cNvSpPr txBox="1"/>
          <p:nvPr/>
        </p:nvSpPr>
        <p:spPr>
          <a:xfrm>
            <a:off x="8668990" y="461660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5742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983B-5C37-EB96-3C4F-B823EE9C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201B7E-E76E-8BB6-68BE-1FE3D97D10A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05445"/>
            <a:ext cx="7090076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internship projects, student profiles, and company details in one platform.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role-based access for students and supervisors.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features for project submission and approval.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notification tools to remind users of important deadlines and tasks.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98946-BC2F-30FE-E072-44720D60431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50754-DD87-A7CA-E94B-DE45954BF490}"/>
              </a:ext>
            </a:extLst>
          </p:cNvPr>
          <p:cNvSpPr txBox="1"/>
          <p:nvPr/>
        </p:nvSpPr>
        <p:spPr>
          <a:xfrm>
            <a:off x="8594649" y="4601736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9018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59004" y="485011"/>
            <a:ext cx="7547491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 ABSTRACT OF THE PROJECT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01055" y="95751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This presentation covers the four main workflows of the Internship Project Information System. 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It highlights the process flow for project management, public user access, final year student participation, and teacher administration. 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designed to manage internship and final year project processes.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 roles with tailored access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D67A2A-F5C8-CFC7-3058-F94D2E21CA33}"/>
              </a:ext>
            </a:extLst>
          </p:cNvPr>
          <p:cNvSpPr txBox="1"/>
          <p:nvPr/>
        </p:nvSpPr>
        <p:spPr>
          <a:xfrm>
            <a:off x="8584960" y="459433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0202-64D7-6022-6BAE-25C0A25C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AA42E-AB84-B7E8-ED4E-449C21172345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50595"/>
            <a:ext cx="7090076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Core MVC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DE728-C81D-9506-1360-D9E6D573CFD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4AA62-BDC2-7B86-4168-7BDC37E1595B}"/>
              </a:ext>
            </a:extLst>
          </p:cNvPr>
          <p:cNvSpPr txBox="1"/>
          <p:nvPr/>
        </p:nvSpPr>
        <p:spPr>
          <a:xfrm>
            <a:off x="8616951" y="463147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2152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429F-29C5-D60D-02A9-BF9F8512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B4885B-260E-4E0E-CBE2-D889C8445762}"/>
              </a:ext>
            </a:extLst>
          </p:cNvPr>
          <p:cNvSpPr txBox="1"/>
          <p:nvPr/>
        </p:nvSpPr>
        <p:spPr>
          <a:xfrm>
            <a:off x="928721" y="305280"/>
            <a:ext cx="690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TEACHER(ADMIN)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707E4-5EB7-ACD5-C76B-130F019FD31B}"/>
              </a:ext>
            </a:extLst>
          </p:cNvPr>
          <p:cNvSpPr txBox="1"/>
          <p:nvPr/>
        </p:nvSpPr>
        <p:spPr>
          <a:xfrm>
            <a:off x="8602082" y="463890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86563-3621-175E-E4BC-C6F0F516DC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261" y="646771"/>
            <a:ext cx="5497477" cy="419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2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053A-93F1-FA4F-B828-E49D880E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BD5D52-0FE0-B4F2-7A39-F3E49A20802D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PUBLIC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092EE-D853-394F-4CA6-63DDC8AE66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219" y="775643"/>
            <a:ext cx="5925561" cy="41328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9D2094-CADA-5691-8F2A-8031B3C4953C}"/>
              </a:ext>
            </a:extLst>
          </p:cNvPr>
          <p:cNvSpPr txBox="1"/>
          <p:nvPr/>
        </p:nvSpPr>
        <p:spPr>
          <a:xfrm>
            <a:off x="8594648" y="463147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8278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0E98-6E75-61E8-B074-4950F331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02ED2D-C127-FD36-95C5-C467FF5AF5CC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STUDENT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56ACB-14F2-F60B-BA51-94580DFB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721" y="645916"/>
            <a:ext cx="4170557" cy="41328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91DE86-9E70-35A3-E580-9B786ABAB260}"/>
              </a:ext>
            </a:extLst>
          </p:cNvPr>
          <p:cNvSpPr txBox="1"/>
          <p:nvPr/>
        </p:nvSpPr>
        <p:spPr>
          <a:xfrm>
            <a:off x="8587215" y="464024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42075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52318" y="564851"/>
            <a:ext cx="5067000" cy="551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TEACHER PORTAL WORKFLOW(ADMIN)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1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0355A-A9D8-4D14-7BC0-912EB30DA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529" y="1134914"/>
            <a:ext cx="5220187" cy="290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92EBF1-A0A8-B279-9D18-41B6C6A48797}"/>
              </a:ext>
            </a:extLst>
          </p:cNvPr>
          <p:cNvSpPr txBox="1"/>
          <p:nvPr/>
        </p:nvSpPr>
        <p:spPr>
          <a:xfrm>
            <a:off x="1552318" y="4058598"/>
            <a:ext cx="522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Admin Login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77613-7B0B-3A20-3A18-2AAAA6137E91}"/>
              </a:ext>
            </a:extLst>
          </p:cNvPr>
          <p:cNvSpPr txBox="1"/>
          <p:nvPr/>
        </p:nvSpPr>
        <p:spPr>
          <a:xfrm>
            <a:off x="8118088" y="430165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.1 </a:t>
            </a: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TEACHER DASHBOARD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958FE-0DC2-AF75-3BAE-287AB40CB7DB}"/>
              </a:ext>
            </a:extLst>
          </p:cNvPr>
          <p:cNvSpPr txBox="1"/>
          <p:nvPr/>
        </p:nvSpPr>
        <p:spPr>
          <a:xfrm>
            <a:off x="889209" y="354445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Dashboard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E3411-0FCC-8EFD-EEDC-E2F56FC7F527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9B664-FB34-330F-8A91-DE33BFC7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20" y="843586"/>
            <a:ext cx="5277485" cy="27008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02F1-1BA8-0BB8-01C2-70B859AF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F85304E5-A96C-0420-40E3-68C994FD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.2 </a:t>
            </a: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EMAIL MANAGEMENT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D5C6B-FD17-5172-216A-53B76B1E1BA2}"/>
              </a:ext>
            </a:extLst>
          </p:cNvPr>
          <p:cNvSpPr txBox="1"/>
          <p:nvPr/>
        </p:nvSpPr>
        <p:spPr>
          <a:xfrm>
            <a:off x="889209" y="3774916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Email Management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B422D-3AF3-8C10-8E19-2955B2FB7735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94586-EBC2-C156-0F72-662FA730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53" y="828508"/>
            <a:ext cx="6169964" cy="294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80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977B-3F02-CF27-3E52-34BCEA96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595EB117-CEBB-B71E-3622-00BA6224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.3 PROJECT APPROVAL MANAGEMENT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52D40-6C2F-995E-54E6-FF3CE430A962}"/>
              </a:ext>
            </a:extLst>
          </p:cNvPr>
          <p:cNvSpPr txBox="1"/>
          <p:nvPr/>
        </p:nvSpPr>
        <p:spPr>
          <a:xfrm>
            <a:off x="889209" y="3519995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Approval Management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353D7-9999-5A73-2C5A-CA7E0D2B47F4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116E4-B873-8E06-77BC-7054B9B413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13"/>
          <a:stretch/>
        </p:blipFill>
        <p:spPr bwMode="auto">
          <a:xfrm>
            <a:off x="965973" y="863762"/>
            <a:ext cx="6720933" cy="26525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9558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649A-6E51-3030-4CFD-C4650C26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7136A1EA-F18B-E4A8-8DB0-17BA3582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.4 PROJECT APPROVAL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8CB01-09A2-D66F-F33B-E7C35A92DD3F}"/>
              </a:ext>
            </a:extLst>
          </p:cNvPr>
          <p:cNvSpPr txBox="1"/>
          <p:nvPr/>
        </p:nvSpPr>
        <p:spPr>
          <a:xfrm>
            <a:off x="889209" y="431202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Approval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64AE6-65C3-3069-E56C-2A1C04327FF9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24133C-E3E6-FF04-A33E-C50E4C29A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36" y="823368"/>
            <a:ext cx="6837788" cy="348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4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AAD9-961F-7FA8-AD97-535BCAF0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C56D0425-6CAC-F4C6-39DF-457943DA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.5 PROJECT REJECTION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B8901-7B8B-EB02-A68D-E561BC1E9586}"/>
              </a:ext>
            </a:extLst>
          </p:cNvPr>
          <p:cNvSpPr txBox="1"/>
          <p:nvPr/>
        </p:nvSpPr>
        <p:spPr>
          <a:xfrm>
            <a:off x="889209" y="431202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Rejection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9CE69-E7BB-EDB3-2210-F4F49406AE80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DE310-64F1-56F7-D16B-8D575880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21" y="856282"/>
            <a:ext cx="6355816" cy="34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2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C38D-626A-A9A2-E583-5C1229CA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>
            <a:extLst>
              <a:ext uri="{FF2B5EF4-FFF2-40B4-BE49-F238E27FC236}">
                <a16:creationId xmlns:a16="http://schemas.microsoft.com/office/drawing/2014/main" id="{E79C39AA-8D87-2F45-B988-15E28DA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06" y="338133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PUBLIC PORTAL (BEFORE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L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OGIN)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PlaceHolder 3">
            <a:extLst>
              <a:ext uri="{FF2B5EF4-FFF2-40B4-BE49-F238E27FC236}">
                <a16:creationId xmlns:a16="http://schemas.microsoft.com/office/drawing/2014/main" id="{DAC6C914-168B-B8A8-3E25-F317E01C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2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4B5CD-3AB3-03BF-5114-72B558021702}"/>
              </a:ext>
            </a:extLst>
          </p:cNvPr>
          <p:cNvSpPr txBox="1"/>
          <p:nvPr/>
        </p:nvSpPr>
        <p:spPr>
          <a:xfrm>
            <a:off x="1695106" y="4167000"/>
            <a:ext cx="6643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Home Page For Public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9F56A-1C19-9DDA-73EF-A5415F1A5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60" y="1126861"/>
            <a:ext cx="5516880" cy="30247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35E024-7C4C-FB1B-CD1C-BFA8C5D10835}"/>
              </a:ext>
            </a:extLst>
          </p:cNvPr>
          <p:cNvSpPr txBox="1"/>
          <p:nvPr/>
        </p:nvSpPr>
        <p:spPr>
          <a:xfrm>
            <a:off x="8089142" y="433627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8266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24470" y="398083"/>
            <a:ext cx="6638692" cy="5203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</a:t>
            </a:r>
            <a:r>
              <a:rPr lang="fr-FR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</a:t>
            </a: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 PUBLIC DASHBOARD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B1BCA-10BD-57F6-F1F1-030C8107D1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44" y="918472"/>
            <a:ext cx="6504878" cy="3444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AF994-3F02-B2B1-2331-5F454E53A6D5}"/>
              </a:ext>
            </a:extLst>
          </p:cNvPr>
          <p:cNvSpPr txBox="1"/>
          <p:nvPr/>
        </p:nvSpPr>
        <p:spPr>
          <a:xfrm>
            <a:off x="624470" y="4332263"/>
            <a:ext cx="4371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Public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F9C51A-0BA7-DBFC-FBDE-2B211E2FD686}"/>
              </a:ext>
            </a:extLst>
          </p:cNvPr>
          <p:cNvSpPr txBox="1"/>
          <p:nvPr/>
        </p:nvSpPr>
        <p:spPr>
          <a:xfrm>
            <a:off x="8589087" y="46400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2.2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PROJECT IDEA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2D4A6-40C7-6C67-28B8-8D656441A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2" y="870432"/>
            <a:ext cx="6222382" cy="3402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EAE85-677A-EBB3-1A5A-3709A8E85DF7}"/>
              </a:ext>
            </a:extLst>
          </p:cNvPr>
          <p:cNvSpPr txBox="1"/>
          <p:nvPr/>
        </p:nvSpPr>
        <p:spPr>
          <a:xfrm>
            <a:off x="723960" y="4350012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Idea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E60AF-762E-F85D-BA85-B7A9F0D110B9}"/>
              </a:ext>
            </a:extLst>
          </p:cNvPr>
          <p:cNvSpPr txBox="1"/>
          <p:nvPr/>
        </p:nvSpPr>
        <p:spPr>
          <a:xfrm>
            <a:off x="8624385" y="46463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FC6A-DE69-B0BE-C17D-160E9E90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D735E6F2-48D5-A803-F46E-1BFADF54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2.3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INTERNSHIP COMPANIES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1B704-9D2F-5B9A-84AF-0B8B8582C969}"/>
              </a:ext>
            </a:extLst>
          </p:cNvPr>
          <p:cNvSpPr txBox="1"/>
          <p:nvPr/>
        </p:nvSpPr>
        <p:spPr>
          <a:xfrm>
            <a:off x="723960" y="4430751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:Internship Companies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C0136C-8FAA-3C93-C831-109DD1B5986D}"/>
              </a:ext>
            </a:extLst>
          </p:cNvPr>
          <p:cNvSpPr txBox="1"/>
          <p:nvPr/>
        </p:nvSpPr>
        <p:spPr>
          <a:xfrm>
            <a:off x="8579780" y="465377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264AE-C4A5-DAD3-B93B-B8A89E75C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24" y="871438"/>
            <a:ext cx="7587416" cy="35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4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7E7F-2D80-068B-40F8-4C9892FD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3530095B-2EF0-DB45-1272-C9675CAF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2.4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FAQ/HELP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2E3CE-F8A5-6B3E-BD9C-266ED733D11C}"/>
              </a:ext>
            </a:extLst>
          </p:cNvPr>
          <p:cNvSpPr txBox="1"/>
          <p:nvPr/>
        </p:nvSpPr>
        <p:spPr>
          <a:xfrm>
            <a:off x="723960" y="4430751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:FAQ/Help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1D788-3BBB-F8D6-16F1-FF2C5F602626}"/>
              </a:ext>
            </a:extLst>
          </p:cNvPr>
          <p:cNvSpPr txBox="1"/>
          <p:nvPr/>
        </p:nvSpPr>
        <p:spPr>
          <a:xfrm>
            <a:off x="8624385" y="46463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85BE6-8187-6319-0E76-2CC271996C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87" y="880481"/>
            <a:ext cx="7545659" cy="355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49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620764" y="626755"/>
            <a:ext cx="5798514" cy="4696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FINAL YEAR STUDENT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PORTAL 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WORKFLOW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3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30EF9-A793-C7AA-701F-A3542AA617F9}"/>
              </a:ext>
            </a:extLst>
          </p:cNvPr>
          <p:cNvSpPr txBox="1"/>
          <p:nvPr/>
        </p:nvSpPr>
        <p:spPr>
          <a:xfrm flipH="1">
            <a:off x="1620764" y="1096364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3.1 LOGIN PAGE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4B2B7-E50C-A240-BC4B-C756C6D42478}"/>
              </a:ext>
            </a:extLst>
          </p:cNvPr>
          <p:cNvSpPr txBox="1"/>
          <p:nvPr/>
        </p:nvSpPr>
        <p:spPr>
          <a:xfrm>
            <a:off x="3477402" y="4199698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Student Login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6A3DE-0848-B03C-6674-358CF9074FAE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68DB3D-4691-3A0F-142A-508573CC7F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991" y="1434918"/>
            <a:ext cx="4570060" cy="27032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F6D6-8C63-A742-B372-398DBEFA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5D218-7683-5EE3-5236-90919B20FFC1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3.2 CREATE PROFILE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B7E0D-4D99-4195-B3A7-1070DA981608}"/>
              </a:ext>
            </a:extLst>
          </p:cNvPr>
          <p:cNvSpPr txBox="1"/>
          <p:nvPr/>
        </p:nvSpPr>
        <p:spPr>
          <a:xfrm>
            <a:off x="3284588" y="4235505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Create Profile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92D84-DF27-7D4D-513C-BFB063F2E4CD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4FB5C-7E93-8833-5A93-67705D14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08" y="1023367"/>
            <a:ext cx="5797383" cy="31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86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CB61-4CC7-EB33-ED56-E5B7E822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DCE02-F780-77ED-CF30-76F274FDE977}"/>
              </a:ext>
            </a:extLst>
          </p:cNvPr>
          <p:cNvSpPr txBox="1"/>
          <p:nvPr/>
        </p:nvSpPr>
        <p:spPr>
          <a:xfrm flipH="1">
            <a:off x="1194169" y="503121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3.3 CREATE PROJECT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70CD3-88CB-C37F-C58F-026919FA1CB7}"/>
              </a:ext>
            </a:extLst>
          </p:cNvPr>
          <p:cNvSpPr txBox="1"/>
          <p:nvPr/>
        </p:nvSpPr>
        <p:spPr>
          <a:xfrm>
            <a:off x="6492829" y="2571750"/>
            <a:ext cx="1903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Create Project 	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CED53-C729-CF6D-EDC1-4A14FA389F1E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1B055-AE65-4A2C-A763-0AE93CDD19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20"/>
          <a:stretch/>
        </p:blipFill>
        <p:spPr>
          <a:xfrm>
            <a:off x="1194169" y="841675"/>
            <a:ext cx="5097774" cy="36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1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4978-B3EB-B5D1-BCE1-BDF6FDA5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85EF9-99BE-1AB0-733C-29085628C8BA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3.4 ADD MEMBER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ACCF5-4AA2-7840-BCE0-56BB4862CC33}"/>
              </a:ext>
            </a:extLst>
          </p:cNvPr>
          <p:cNvSpPr txBox="1"/>
          <p:nvPr/>
        </p:nvSpPr>
        <p:spPr>
          <a:xfrm>
            <a:off x="1244351" y="4184354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Add Member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CF162-27B2-EB13-8C5F-1C56C643D4C4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91EBF-4E9E-43CD-AC58-B46F1394B713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8" b="7556"/>
          <a:stretch/>
        </p:blipFill>
        <p:spPr>
          <a:xfrm>
            <a:off x="1244351" y="997792"/>
            <a:ext cx="6698046" cy="31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14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BA5D-C06E-49A7-7FD2-534265CB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FFFD1-B7E7-4EFB-5354-A5D70627E03E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3.5 DASHBOARD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920C1-4A28-93A0-A3BF-26AB9EE6F7B9}"/>
              </a:ext>
            </a:extLst>
          </p:cNvPr>
          <p:cNvSpPr txBox="1"/>
          <p:nvPr/>
        </p:nvSpPr>
        <p:spPr>
          <a:xfrm>
            <a:off x="1201603" y="4307465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Dashboard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572C8-41C2-016F-0E78-26460A67F9AC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794E5-F8E3-4D18-B00B-20A2C0669A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b="6245"/>
          <a:stretch/>
        </p:blipFill>
        <p:spPr>
          <a:xfrm>
            <a:off x="1304846" y="976947"/>
            <a:ext cx="6819151" cy="33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49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48215" y="427255"/>
            <a:ext cx="3200040" cy="55738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CONCLUSION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1048215" y="921832"/>
            <a:ext cx="6861717" cy="35981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 was a very useful and meaningful experience.</a:t>
            </a:r>
          </a:p>
          <a:p>
            <a:pPr algn="just">
              <a:lnSpc>
                <a:spcPct val="169999"/>
              </a:lnSpc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improved my skills, such as problem-solving, teamwork, and time management, and I also learned how to work in a professional environment. </a:t>
            </a: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guidance from my seniors helped me grow and understand the industry better.</a:t>
            </a:r>
          </a:p>
          <a:p>
            <a:pPr algn="just">
              <a:lnSpc>
                <a:spcPct val="169999"/>
              </a:lnSpc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internship has given me more confidence and has prepared me well for my future career.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5D323-705B-B796-72E0-5F32AEB76AE7}"/>
              </a:ext>
            </a:extLst>
          </p:cNvPr>
          <p:cNvSpPr txBox="1"/>
          <p:nvPr/>
        </p:nvSpPr>
        <p:spPr>
          <a:xfrm>
            <a:off x="8572346" y="460173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6F99-ED0B-617C-A325-D4556345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>
            <a:extLst>
              <a:ext uri="{FF2B5EF4-FFF2-40B4-BE49-F238E27FC236}">
                <a16:creationId xmlns:a16="http://schemas.microsoft.com/office/drawing/2014/main" id="{55B06F34-CDE5-8AC2-39F5-C5EC5CAF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90" y="1145310"/>
            <a:ext cx="5895720" cy="142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PlaceHolder 2">
            <a:extLst>
              <a:ext uri="{FF2B5EF4-FFF2-40B4-BE49-F238E27FC236}">
                <a16:creationId xmlns:a16="http://schemas.microsoft.com/office/drawing/2014/main" id="{FA93D3DD-DA84-B91B-E987-B72529171D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36380" y="3234690"/>
            <a:ext cx="5785140" cy="60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any question , feel free to ask.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48E8E-3AEA-DE92-E2B8-9EFE06218040}"/>
              </a:ext>
            </a:extLst>
          </p:cNvPr>
          <p:cNvSpPr txBox="1"/>
          <p:nvPr/>
        </p:nvSpPr>
        <p:spPr>
          <a:xfrm>
            <a:off x="8106215" y="433691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2126755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</TotalTime>
  <Words>946</Words>
  <Application>Microsoft Office PowerPoint</Application>
  <PresentationFormat>On-screen Show (16:9)</PresentationFormat>
  <Paragraphs>182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Figtree Black</vt:lpstr>
      <vt:lpstr>Hanken Grotesk</vt:lpstr>
      <vt:lpstr>OpenSymbol</vt:lpstr>
      <vt:lpstr>Symbol</vt:lpstr>
      <vt:lpstr>Times New Roman</vt:lpstr>
      <vt:lpstr>Wingdings</vt:lpstr>
      <vt:lpstr>Elegant Black &amp; White Thesis Defense by Slidesgo</vt:lpstr>
      <vt:lpstr>Slidesgo Final Pages</vt:lpstr>
      <vt:lpstr>PowerPoint Presentation</vt:lpstr>
      <vt:lpstr>OUTLINE OF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ABSTRACT OF THE PROJECT</vt:lpstr>
      <vt:lpstr>PowerPoint Presentation</vt:lpstr>
      <vt:lpstr>PowerPoint Presentation</vt:lpstr>
      <vt:lpstr>PowerPoint Presentation</vt:lpstr>
      <vt:lpstr>PowerPoint Presentation</vt:lpstr>
      <vt:lpstr>TEACHER PORTAL WORKFLOW(ADMIN)</vt:lpstr>
      <vt:lpstr>1.1 TEACHER DASHBOARD</vt:lpstr>
      <vt:lpstr>1.2 EMAIL MANAGEMENT</vt:lpstr>
      <vt:lpstr>1.3 PROJECT APPROVAL MANAGEMENT</vt:lpstr>
      <vt:lpstr>1.4 PROJECT APPROVAL</vt:lpstr>
      <vt:lpstr>1.5 PROJECT REJECTION</vt:lpstr>
      <vt:lpstr>PUBLIC PORTAL (BEFORE LOGIN)</vt:lpstr>
      <vt:lpstr>2.1 PUBLIC DASHBOARD</vt:lpstr>
      <vt:lpstr>2.2 PROJECT IDEA</vt:lpstr>
      <vt:lpstr>2.3 INTERNSHIP COMPANIES</vt:lpstr>
      <vt:lpstr>2.4 FAQ/HELP</vt:lpstr>
      <vt:lpstr>FINAL YEAR STUDENT PORTAL WORKFLOW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FOR YOUR ATTENTION!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Su Hlaing Ktl</cp:lastModifiedBy>
  <cp:revision>297</cp:revision>
  <dcterms:modified xsi:type="dcterms:W3CDTF">2025-08-19T01:57:34Z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2025-08-08T03:47:44Z</dcterms:created>
  <dc:creator>Unknown Creator</dc:creator>
  <dc:description/>
  <dc:language>en-US</dc:language>
  <cp:lastModifiedBy>Unknown Creator</cp:lastModifiedBy>
  <dcterms:modified xsi:type="dcterms:W3CDTF">2025-08-08T03:47:44Z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